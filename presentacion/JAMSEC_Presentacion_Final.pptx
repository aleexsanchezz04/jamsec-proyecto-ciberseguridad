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Auditoría y Defensa </a:t>
            </a:r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Tier-2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434840" y="3108960"/>
            <a:ext cx="3291840" cy="1280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Caso práctico: Apex Gestoría  ·  JamSec S.L.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7947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Presentado por: Alex Sánchez García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Curso de Especialización en Ciberseguridad  ·  Proyecto Final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Índice de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Contenidos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270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¿Quiénes somos? — JamSec S.L.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82549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28254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cliente y su problemática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1239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41239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Errores críticos encontrados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5312664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54223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54223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Nuestro Plan de Acción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15270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32320" y="1527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Arquitectura y Tecnologías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2715768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82549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0" y="28254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Flujo: Ataque vs Defensa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4014216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1239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132320" y="41239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Monitorización · Problemas superados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5312664"/>
            <a:ext cx="5440680" cy="109728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54223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132320" y="54223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Ideas Futuras  ·  Presupuesto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¿Qué hace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JamSec S.L.?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89888"/>
            <a:ext cx="11155680" cy="1572768"/>
          </a:xfrm>
          <a:prstGeom prst="roundRect">
            <a:avLst>
              <a:gd name="adj" fmla="val 4070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64008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81328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1527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Auditoría Ofensiva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3225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Pentesting  ·  Explotación  ·  PoC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11155680" cy="1572768"/>
          </a:xfrm>
          <a:prstGeom prst="roundRect">
            <a:avLst>
              <a:gd name="adj" fmla="val 4070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145536"/>
            <a:ext cx="64008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236976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08760" y="32826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5844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Defensa Perimetral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07822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nftables  ·  Suricata  ·  Bastionado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901184"/>
            <a:ext cx="11155680" cy="1572768"/>
          </a:xfrm>
          <a:prstGeom prst="roundRect">
            <a:avLst>
              <a:gd name="adj" fmla="val 4070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901184"/>
            <a:ext cx="64008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992624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08760" y="5038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Blue Team / SOC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53400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Vigilancia 24 / 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8338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Wazuh SIEM  ·  7 agentes  ·  Alertas en tiempo real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El Cliente y su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4908499" cy="5257800"/>
          </a:xfrm>
          <a:prstGeom prst="roundRect">
            <a:avLst>
              <a:gd name="adj" fmla="val 1304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4512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Apex Gestoría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44512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451299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963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50592"/>
            <a:ext cx="4250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Datos fiscales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00400"/>
            <a:ext cx="4250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Nóminas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9959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50208"/>
            <a:ext cx="4250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NIFs confidenciales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7457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00016"/>
            <a:ext cx="4250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Portal intranet propio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4955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449824"/>
            <a:ext cx="42501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Obligación RGPD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77179" y="1389888"/>
            <a:ext cx="5881421" cy="1115568"/>
          </a:xfrm>
          <a:prstGeom prst="roundRect">
            <a:avLst>
              <a:gd name="adj" fmla="val 573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0059" y="143560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54419" y="1499616"/>
            <a:ext cx="4921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 segmentación de red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4419" y="1892808"/>
            <a:ext cx="4921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y BBDD en la misma 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77179" y="2688336"/>
            <a:ext cx="5881421" cy="1115568"/>
          </a:xfrm>
          <a:prstGeom prst="roundRect">
            <a:avLst>
              <a:gd name="adj" fmla="val 573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0059" y="273405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54419" y="2798064"/>
            <a:ext cx="4921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 validación de entradas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4419" y="3191256"/>
            <a:ext cx="4921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Formularios vulnerables a SQLi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77179" y="3986784"/>
            <a:ext cx="5881421" cy="1115568"/>
          </a:xfrm>
          <a:prstGeom prst="roundRect">
            <a:avLst>
              <a:gd name="adj" fmla="val 573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0059" y="4032504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54419" y="4096512"/>
            <a:ext cx="4921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 política de contraseñas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54419" y="4489704"/>
            <a:ext cx="4921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FTP anónimo · SSH débil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77179" y="5285232"/>
            <a:ext cx="5881421" cy="1115568"/>
          </a:xfrm>
          <a:prstGeom prst="roundRect">
            <a:avLst>
              <a:gd name="adj" fmla="val 5738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0059" y="533095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54419" y="5394960"/>
            <a:ext cx="4921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 logs ni monitorización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4419" y="5788152"/>
            <a:ext cx="492130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 brechas pasan desapercibidas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Errores Críticos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Encontrados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53312"/>
            <a:ext cx="5372100" cy="2377440"/>
          </a:xfrm>
          <a:prstGeom prst="roundRect">
            <a:avLst>
              <a:gd name="adj" fmla="val 269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53721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179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591056"/>
            <a:ext cx="4046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CVSS 9.8 — CRÍTICO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157984"/>
            <a:ext cx="4969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Inyección SQL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04088" y="2633472"/>
            <a:ext cx="496976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743200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Acceso total · volcado de BBDD con sqlmap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86500" y="1353312"/>
            <a:ext cx="5372100" cy="2377440"/>
          </a:xfrm>
          <a:prstGeom prst="roundRect">
            <a:avLst>
              <a:gd name="adj" fmla="val 269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353312"/>
            <a:ext cx="53721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7668" y="15179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29500" y="1591056"/>
            <a:ext cx="4046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CVSS 8.1 — ALTO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87668" y="2157984"/>
            <a:ext cx="4969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Red Plana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87668" y="2633472"/>
            <a:ext cx="496976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7668" y="2743200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y BBDD en la misma red — sin barreras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5372100" cy="2377440"/>
          </a:xfrm>
          <a:prstGeom prst="roundRect">
            <a:avLst>
              <a:gd name="adj" fmla="val 269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13632"/>
            <a:ext cx="53721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0782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645920" y="4151376"/>
            <a:ext cx="4046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CVSS 7.5 — ALTO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4718304"/>
            <a:ext cx="4969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Credenciales Inseguras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" y="5193792"/>
            <a:ext cx="496976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5303520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FTP anónimo · Fuerza bruta SSH con Hydra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86500" y="3913632"/>
            <a:ext cx="5372100" cy="2377440"/>
          </a:xfrm>
          <a:prstGeom prst="roundRect">
            <a:avLst>
              <a:gd name="adj" fmla="val 269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6500" y="3913632"/>
            <a:ext cx="53721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7668" y="40782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429500" y="4151376"/>
            <a:ext cx="40462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CVSS 6.5 — MEDIO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87668" y="4718304"/>
            <a:ext cx="4969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Sin Monitorización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87668" y="5193792"/>
            <a:ext cx="496976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7668" y="5303520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Exfiltración indetectable · sin alertas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Nuestro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Plan de Acción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53312"/>
            <a:ext cx="3566160" cy="5230368"/>
          </a:xfrm>
          <a:prstGeom prst="roundRect">
            <a:avLst>
              <a:gd name="adj" fmla="val 179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35661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ATACAR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320040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1868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1821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Reconocimiento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8039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SQLi · FTP anónimo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4622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42569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Fuerza bruta SSH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08406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504748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Pivote DMZ → LAN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570585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56692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Webshell / RCE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353312"/>
            <a:ext cx="3566160" cy="5230368"/>
          </a:xfrm>
          <a:prstGeom prst="roundRect">
            <a:avLst>
              <a:gd name="adj" fmla="val 179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353312"/>
            <a:ext cx="35661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481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480560" y="2194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5237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PROTEGER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480560" y="3063240"/>
            <a:ext cx="320040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2186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1821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Firewalls Debian + nftables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80560" y="3840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38039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Segmentación por zonas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80560" y="44622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42569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WAN / DMZ / LAN / SOC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480560" y="50840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504748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VPN Tailscale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480560" y="57058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56692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Reglas de filtrado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092440" y="1353312"/>
            <a:ext cx="3566160" cy="5230368"/>
          </a:xfrm>
          <a:prstGeom prst="roundRect">
            <a:avLst>
              <a:gd name="adj" fmla="val 179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1353312"/>
            <a:ext cx="356616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1481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8275320" y="21945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75320" y="25237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VIGILAR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275320" y="3063240"/>
            <a:ext cx="320040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32186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76488" y="31821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Wazuh 4.12 SIEM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275320" y="38404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6488" y="38039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Suricata IDS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275320" y="446227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76488" y="442569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agentes desplegados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75320" y="50840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76488" y="504748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Alertas en tiempo real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8275320" y="57058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76488" y="566928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 SOC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Un Entorno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Realista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5354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Proxmox VE 9.1  ·  3 nodos físicos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5354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proxmox  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Infra JamSec (VMs propias)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404872"/>
            <a:ext cx="5354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pve2  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Infra Apex — cliente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935224"/>
            <a:ext cx="5354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pve3  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Reserva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5354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Acceso: Tailscale VPN (túnel cifrado)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005072"/>
            <a:ext cx="53547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 IP pública expuesta  ·  Latencia mínima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9126" y="1325880"/>
            <a:ext cx="5389474" cy="5257800"/>
          </a:xfrm>
          <a:prstGeom prst="roundRect">
            <a:avLst>
              <a:gd name="adj" fmla="val 1217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7726" y="1463040"/>
            <a:ext cx="49322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Zonas de Red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7726" y="1965960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3174" y="216712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9206" y="2039112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WAN   172.20.17.0 / 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7726" y="2679192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3174" y="28803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9206" y="2752344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SOC   10.20.10.0 / 24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7726" y="3392424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3174" y="359359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9206" y="3465576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DMZ   10.20.20.0 / 24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7726" y="4105656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3174" y="43068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9206" y="4178808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SRV   10.20.30.0 / 24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7726" y="4818888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3174" y="5020056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9206" y="4892040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Apex-DMZ  10.30.20.0 / 24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7726" y="5532120"/>
            <a:ext cx="4932274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3174" y="5733288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9206" y="5605272"/>
            <a:ext cx="4475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Apex-LAN  10.30.10.0 / 24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Arquitectura y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Tecnologías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4475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4813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jamsec-redteam  </a:t>
            </a:r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 Nodo Ofensivo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nmap · sqlmap · hydra · netcat  ·  SOC 10.20.10.50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1115568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9748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7063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8072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nftables + Suricata  </a:t>
            </a:r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 Firewall + IDS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Zonas WAN/DMZ/LAN/SOC  ·  Modo IDS  ·  Reglas por tráfico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15568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2336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09651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4133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MariaDB  </a:t>
            </a:r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 Caja Fuerte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6177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 aislada 10.30.10.10  ·  Solo accesible desde DMZ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1115568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3492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542239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54589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Wazuh 4.12  </a:t>
            </a:r>
            <a:pPr algn="l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· SIEM / SOC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9436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agentes · Dashboard · Alertas críticas · Compliance RGPD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El Flujo: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Ataque vs Defensa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139696"/>
            <a:ext cx="45720" cy="9601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81328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44168" y="1481328"/>
            <a:ext cx="10314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El Intento — SQLi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44168" y="1984248"/>
            <a:ext cx="10314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admin' OR '1'='1  →  volcado BBDD con sqlmap  →  webshell + RCE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858768"/>
            <a:ext cx="45720" cy="9601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0040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44168" y="3200400"/>
            <a:ext cx="10314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 Detección — Suricata IDS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44168" y="3703320"/>
            <a:ext cx="10314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Patrón SQLi detectado en apex-fw  ·  nftables bloquea movimiento lateral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919472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919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44168" y="4919472"/>
            <a:ext cx="10314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 Alerta — SOC Wazuh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44168" y="5422392"/>
            <a:ext cx="10314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 cifrado → jamsec-wazuh  ·  alerta crítica en dashboard  ·  registro forense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Problemas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Superados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53312"/>
            <a:ext cx="5394960" cy="2423160"/>
          </a:xfrm>
          <a:prstGeom prst="roundRect">
            <a:avLst>
              <a:gd name="adj" fmla="val 264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" y="213055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237744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Wazuh 4.12 + Debian 13 — dependencia eliminada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2862072"/>
            <a:ext cx="499262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980944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Solución: sed sobre el instalador · apt-mark hold 4.12.0-1 · wazuh-agentd -t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53312"/>
            <a:ext cx="5394960" cy="2423160"/>
          </a:xfrm>
          <a:prstGeom prst="roundRect">
            <a:avLst>
              <a:gd name="adj" fmla="val 264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64808" y="213055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64808" y="237744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Suricata VirtIO — ~39.000 falsos positivos / día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64808" y="2862072"/>
            <a:ext cx="499262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980944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Solución: Deshabilitar offloads de NIC · af-packet threads:1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59352"/>
            <a:ext cx="5394960" cy="2423160"/>
          </a:xfrm>
          <a:prstGeom prst="roundRect">
            <a:avLst>
              <a:gd name="adj" fmla="val 264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4088" y="473659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" y="498348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Conflictos de IP en red compartida del aula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" y="5468112"/>
            <a:ext cx="499262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5586984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Solución: Verificación sistemática: ping + ip neigh antes de asignar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959352"/>
            <a:ext cx="5394960" cy="2423160"/>
          </a:xfrm>
          <a:prstGeom prst="roundRect">
            <a:avLst>
              <a:gd name="adj" fmla="val 2642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64808" y="473659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498348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Paquetes renombrados en Debian 13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64808" y="5468112"/>
            <a:ext cx="499262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5586984"/>
            <a:ext cx="4992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Solución: php-mysql · bind9-dnsutils · RAM apex-fw → 2 GB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Ideas Futuras de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Implementación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3474720" cy="2514600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337560" y="1572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226771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Zero Trust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" y="2788920"/>
            <a:ext cx="640080" cy="1097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MFA obligatorio  ·  acceso mínimo por defecto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474720" cy="2514600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78040" y="1572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4568" y="226771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SOAR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44568" y="2788920"/>
            <a:ext cx="640080" cy="1097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Responses automáticos en Wazuh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1371600"/>
            <a:ext cx="3474720" cy="2514600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572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018520" y="15727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85048" y="226771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IA / Anomalías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5048" y="2788920"/>
            <a:ext cx="640080" cy="1097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5048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 para detectar comportamientos inusuales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3159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♻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57800" y="4315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4088" y="501091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DevSecOps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4088" y="5532120"/>
            <a:ext cx="640080" cy="1097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5687568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SAST integrado en el pipeline de desarrollo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11480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43159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1018520" y="43159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64808" y="501091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Microsegmentación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64808" y="5532120"/>
            <a:ext cx="640080" cy="1097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5687568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Docker · permisos mínimos por contenedor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Presupuesto </a:t>
            </a:r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11155680" cy="109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85800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0B981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Fase</a:t>
                      </a:r>
                      <a:endParaRPr lang="en-US" sz="15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0B981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Descripción</a:t>
                      </a:r>
                      <a:endParaRPr lang="en-US" sz="15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0B981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Coste (sin IVA)</a:t>
                      </a:r>
                      <a:endParaRPr lang="en-US" sz="15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Auditoría Ofensiva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Pentesting web · SQLi · PoC · exfiltración</a:t>
                      </a:r>
                      <a:endParaRPr lang="en-US" sz="14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1.200 €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Hardening Perimetral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nftables + Suricata · segmentación · Tailscale VPN</a:t>
                      </a:r>
                      <a:endParaRPr lang="en-US" sz="14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1.500 €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Despliegue SOC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Wazuh 4.12 · 7 agentes · compliance RGPD</a:t>
                      </a:r>
                      <a:endParaRPr lang="en-US" sz="14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1.800 €</a:t>
                      </a:r>
                      <a:endParaRPr lang="en-US" sz="14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0B981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TOTAL</a:t>
                      </a:r>
                      <a:endParaRPr lang="en-US" sz="17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Securización completa Tier-2 + informes PTES / OWASP</a:t>
                      </a:r>
                      <a:endParaRPr lang="en-US" sz="14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0B981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4.500 €</a:t>
                      </a:r>
                      <a:endParaRPr lang="en-US" sz="170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 Precios orientativos para un proyecto académico. IVA no incluido.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0B98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¿Preguntas?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4069080" y="3337560"/>
            <a:ext cx="4023360" cy="1280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9300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Gracias por vuestra atención.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JAMSEC S.L.  ·  Caso práctico Apex Gestoría  ·  Proyecto Final Ciberseguridad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2026-06-07T19:41:37Z</dcterms:created>
  <dcterms:modified xsi:type="dcterms:W3CDTF">2026-06-07T19:41:37Z</dcterms:modified>
</cp:coreProperties>
</file>