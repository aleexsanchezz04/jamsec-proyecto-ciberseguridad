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10058400" y="-1463040"/>
            <a:ext cx="3840480" cy="3840480"/>
          </a:xfrm>
          <a:prstGeom prst="ellipse">
            <a:avLst/>
          </a:prstGeom>
          <a:solidFill>
            <a:srgbClr val="19C37D">
              <a:alpha val="18000"/>
            </a:srgbClr>
          </a:solidFill>
          <a:ln/>
        </p:spPr>
      </p:sp>
      <p:sp>
        <p:nvSpPr>
          <p:cNvPr id="3" name="Shape 1"/>
          <p:cNvSpPr/>
          <p:nvPr/>
        </p:nvSpPr>
        <p:spPr>
          <a:xfrm>
            <a:off x="-1280160" y="4754880"/>
            <a:ext cx="3291840" cy="3291840"/>
          </a:xfrm>
          <a:prstGeom prst="ellipse">
            <a:avLst/>
          </a:prstGeom>
          <a:solidFill>
            <a:srgbClr val="16407A">
              <a:alpha val="45000"/>
            </a:srgbClr>
          </a:solidFill>
          <a:ln/>
        </p:spPr>
      </p:sp>
      <p:sp>
        <p:nvSpPr>
          <p:cNvPr id="4" name="Text 2"/>
          <p:cNvSpPr/>
          <p:nvPr/>
        </p:nvSpPr>
        <p:spPr>
          <a:xfrm>
            <a:off x="822960" y="1371600"/>
            <a:ext cx="7315200" cy="1005840"/>
          </a:xfrm>
          <a:prstGeom prst="rect">
            <a:avLst/>
          </a:prstGeom>
          <a:noFill/>
          <a:ln/>
        </p:spPr>
        <p:txBody>
          <a:bodyPr wrap="square" rtlCol="0" anchor="ctr"/>
          <a:lstStyle/>
          <a:p>
            <a:pPr indent="0" marL="0">
              <a:buNone/>
            </a:pPr>
            <a:r>
              <a:rPr lang="en-US" sz="6000" b="1" dirty="0">
                <a:solidFill>
                  <a:srgbClr val="FFFFFF"/>
                </a:solidFill>
                <a:latin typeface="Trebuchet MS" pitchFamily="34" charset="0"/>
                <a:ea typeface="Trebuchet MS" pitchFamily="34" charset="-122"/>
                <a:cs typeface="Trebuchet MS" pitchFamily="34" charset="-120"/>
              </a:rPr>
              <a:t>JAM</a:t>
            </a:r>
            <a:pPr indent="0" marL="0">
              <a:buNone/>
            </a:pPr>
            <a:r>
              <a:rPr lang="en-US" sz="6000" b="1" dirty="0">
                <a:solidFill>
                  <a:srgbClr val="19C37D"/>
                </a:solidFill>
                <a:latin typeface="Trebuchet MS" pitchFamily="34" charset="0"/>
                <a:ea typeface="Trebuchet MS" pitchFamily="34" charset="-122"/>
                <a:cs typeface="Trebuchet MS" pitchFamily="34" charset="-120"/>
              </a:rPr>
              <a:t>SEC</a:t>
            </a:r>
            <a:endParaRPr lang="en-US" sz="6000" dirty="0"/>
          </a:p>
        </p:txBody>
      </p:sp>
      <p:sp>
        <p:nvSpPr>
          <p:cNvPr id="5" name="Text 3"/>
          <p:cNvSpPr/>
          <p:nvPr/>
        </p:nvSpPr>
        <p:spPr>
          <a:xfrm>
            <a:off x="868680" y="2377440"/>
            <a:ext cx="8229600" cy="457200"/>
          </a:xfrm>
          <a:prstGeom prst="rect">
            <a:avLst/>
          </a:prstGeom>
          <a:noFill/>
          <a:ln/>
        </p:spPr>
        <p:txBody>
          <a:bodyPr wrap="square" rtlCol="0" anchor="ctr"/>
          <a:lstStyle/>
          <a:p>
            <a:pPr indent="0" marL="0">
              <a:buNone/>
            </a:pPr>
            <a:r>
              <a:rPr lang="en-US" sz="1800" i="1" dirty="0">
                <a:solidFill>
                  <a:srgbClr val="AEB9C7"/>
                </a:solidFill>
                <a:latin typeface="Calibri" pitchFamily="34" charset="0"/>
                <a:ea typeface="Calibri" pitchFamily="34" charset="-122"/>
                <a:cs typeface="Calibri" pitchFamily="34" charset="-120"/>
              </a:rPr>
              <a:t>Servicios Gestionados de Ciberseguridad</a:t>
            </a:r>
            <a:endParaRPr lang="en-US" sz="1800" dirty="0"/>
          </a:p>
        </p:txBody>
      </p:sp>
      <p:sp>
        <p:nvSpPr>
          <p:cNvPr id="6" name="Text 4"/>
          <p:cNvSpPr/>
          <p:nvPr/>
        </p:nvSpPr>
        <p:spPr>
          <a:xfrm>
            <a:off x="822960" y="3200400"/>
            <a:ext cx="10424160" cy="91440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Infraestructura empresarial, monitorización y auditoría de seguridad</a:t>
            </a:r>
            <a:endParaRPr lang="en-US" sz="3000" dirty="0"/>
          </a:p>
        </p:txBody>
      </p:sp>
      <p:sp>
        <p:nvSpPr>
          <p:cNvPr id="7" name="Text 5"/>
          <p:cNvSpPr/>
          <p:nvPr/>
        </p:nvSpPr>
        <p:spPr>
          <a:xfrm>
            <a:off x="868680" y="4206240"/>
            <a:ext cx="9144000" cy="457200"/>
          </a:xfrm>
          <a:prstGeom prst="rect">
            <a:avLst/>
          </a:prstGeom>
          <a:noFill/>
          <a:ln/>
        </p:spPr>
        <p:txBody>
          <a:bodyPr wrap="square" rtlCol="0" anchor="ctr"/>
          <a:lstStyle/>
          <a:p>
            <a:pPr indent="0" marL="0">
              <a:buNone/>
            </a:pPr>
            <a:r>
              <a:rPr lang="en-US" sz="1800" dirty="0">
                <a:solidFill>
                  <a:srgbClr val="AEB9C7"/>
                </a:solidFill>
                <a:latin typeface="Calibri" pitchFamily="34" charset="0"/>
                <a:ea typeface="Calibri" pitchFamily="34" charset="-122"/>
                <a:cs typeface="Calibri" pitchFamily="34" charset="-120"/>
              </a:rPr>
              <a:t>Cliente auditado: </a:t>
            </a:r>
            <a:pPr indent="0" marL="0">
              <a:buNone/>
            </a:pPr>
            <a:r>
              <a:rPr lang="en-US" sz="1800" b="1" dirty="0">
                <a:solidFill>
                  <a:srgbClr val="19C37D"/>
                </a:solidFill>
                <a:latin typeface="Calibri" pitchFamily="34" charset="0"/>
                <a:ea typeface="Calibri" pitchFamily="34" charset="-122"/>
                <a:cs typeface="Calibri" pitchFamily="34" charset="-120"/>
              </a:rPr>
              <a:t>Apex Gestoría</a:t>
            </a:r>
            <a:endParaRPr lang="en-US" sz="1800" dirty="0"/>
          </a:p>
        </p:txBody>
      </p:sp>
      <p:sp>
        <p:nvSpPr>
          <p:cNvPr id="8" name="Text 6"/>
          <p:cNvSpPr/>
          <p:nvPr/>
        </p:nvSpPr>
        <p:spPr>
          <a:xfrm>
            <a:off x="868680" y="5852160"/>
            <a:ext cx="10058400" cy="457200"/>
          </a:xfrm>
          <a:prstGeom prst="rect">
            <a:avLst/>
          </a:prstGeom>
          <a:noFill/>
          <a:ln/>
        </p:spPr>
        <p:txBody>
          <a:bodyPr wrap="square" rtlCol="0" anchor="ctr"/>
          <a:lstStyle/>
          <a:p>
            <a:pPr indent="0" marL="0">
              <a:buNone/>
            </a:pPr>
            <a:r>
              <a:rPr lang="en-US" sz="1400" dirty="0">
                <a:solidFill>
                  <a:srgbClr val="8A97A8"/>
                </a:solidFill>
                <a:latin typeface="Calibri" pitchFamily="34" charset="0"/>
                <a:ea typeface="Calibri" pitchFamily="34" charset="-122"/>
                <a:cs typeface="Calibri" pitchFamily="34" charset="-120"/>
              </a:rPr>
              <a:t>Alex Sánchez García · Curso de Especialización en Ciberseguridad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indent="0" marL="0">
              <a:buNone/>
            </a:pPr>
            <a:r>
              <a:rPr lang="en-US" sz="3000" b="1" dirty="0">
                <a:solidFill>
                  <a:srgbClr val="1F2A44"/>
                </a:solidFill>
                <a:latin typeface="Trebuchet MS" pitchFamily="34" charset="0"/>
                <a:ea typeface="Trebuchet MS" pitchFamily="34" charset="-122"/>
                <a:cs typeface="Trebuchet MS" pitchFamily="34" charset="-120"/>
              </a:rPr>
              <a:t>Agenda</a:t>
            </a:r>
            <a:endParaRPr lang="en-US" sz="3000" dirty="0"/>
          </a:p>
        </p:txBody>
      </p:sp>
      <p:sp>
        <p:nvSpPr>
          <p:cNvPr id="3" name="Shape 1"/>
          <p:cNvSpPr/>
          <p:nvPr/>
        </p:nvSpPr>
        <p:spPr>
          <a:xfrm>
            <a:off x="822960" y="1463040"/>
            <a:ext cx="10515600" cy="841248"/>
          </a:xfrm>
          <a:prstGeom prst="roundRect">
            <a:avLst>
              <a:gd name="adj" fmla="val 8696"/>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4" name="Shape 2"/>
          <p:cNvSpPr/>
          <p:nvPr/>
        </p:nvSpPr>
        <p:spPr>
          <a:xfrm>
            <a:off x="1051560" y="1655064"/>
            <a:ext cx="457200" cy="457200"/>
          </a:xfrm>
          <a:prstGeom prst="ellipse">
            <a:avLst/>
          </a:prstGeom>
          <a:solidFill>
            <a:srgbClr val="19C37D"/>
          </a:solidFill>
          <a:ln/>
        </p:spPr>
      </p:sp>
      <p:sp>
        <p:nvSpPr>
          <p:cNvPr id="5" name="Text 3"/>
          <p:cNvSpPr/>
          <p:nvPr/>
        </p:nvSpPr>
        <p:spPr>
          <a:xfrm>
            <a:off x="1051560" y="1655064"/>
            <a:ext cx="457200" cy="457200"/>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1</a:t>
            </a:r>
            <a:endParaRPr lang="en-US" sz="2000" dirty="0"/>
          </a:p>
        </p:txBody>
      </p:sp>
      <p:sp>
        <p:nvSpPr>
          <p:cNvPr id="6" name="Text 4"/>
          <p:cNvSpPr/>
          <p:nvPr/>
        </p:nvSpPr>
        <p:spPr>
          <a:xfrm>
            <a:off x="1737360" y="1572768"/>
            <a:ext cx="6583680" cy="365760"/>
          </a:xfrm>
          <a:prstGeom prst="rect">
            <a:avLst/>
          </a:prstGeom>
          <a:noFill/>
          <a:ln/>
        </p:spPr>
        <p:txBody>
          <a:bodyPr wrap="square" lIns="0" tIns="0" rIns="0" bIns="0" rtlCol="0" anchor="ctr"/>
          <a:lstStyle/>
          <a:p>
            <a:pPr indent="0" marL="0">
              <a:buNone/>
            </a:pPr>
            <a:r>
              <a:rPr lang="en-US" sz="1800" b="1" dirty="0">
                <a:solidFill>
                  <a:srgbClr val="1F2A44"/>
                </a:solidFill>
                <a:latin typeface="Trebuchet MS" pitchFamily="34" charset="0"/>
                <a:ea typeface="Trebuchet MS" pitchFamily="34" charset="-122"/>
                <a:cs typeface="Trebuchet MS" pitchFamily="34" charset="-120"/>
              </a:rPr>
              <a:t>El proyecto</a:t>
            </a:r>
            <a:endParaRPr lang="en-US" sz="1800" dirty="0"/>
          </a:p>
        </p:txBody>
      </p:sp>
      <p:sp>
        <p:nvSpPr>
          <p:cNvPr id="7" name="Text 5"/>
          <p:cNvSpPr/>
          <p:nvPr/>
        </p:nvSpPr>
        <p:spPr>
          <a:xfrm>
            <a:off x="1737360" y="1920240"/>
            <a:ext cx="8961120" cy="3200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Contexto, objetivos y actores</a:t>
            </a:r>
            <a:endParaRPr lang="en-US" sz="1300" dirty="0"/>
          </a:p>
        </p:txBody>
      </p:sp>
      <p:sp>
        <p:nvSpPr>
          <p:cNvPr id="8" name="Shape 6"/>
          <p:cNvSpPr/>
          <p:nvPr/>
        </p:nvSpPr>
        <p:spPr>
          <a:xfrm>
            <a:off x="822960" y="2432304"/>
            <a:ext cx="10515600" cy="841248"/>
          </a:xfrm>
          <a:prstGeom prst="roundRect">
            <a:avLst>
              <a:gd name="adj" fmla="val 8696"/>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9" name="Shape 7"/>
          <p:cNvSpPr/>
          <p:nvPr/>
        </p:nvSpPr>
        <p:spPr>
          <a:xfrm>
            <a:off x="1051560" y="2624328"/>
            <a:ext cx="457200" cy="457200"/>
          </a:xfrm>
          <a:prstGeom prst="ellipse">
            <a:avLst/>
          </a:prstGeom>
          <a:solidFill>
            <a:srgbClr val="19C37D"/>
          </a:solidFill>
          <a:ln/>
        </p:spPr>
      </p:sp>
      <p:sp>
        <p:nvSpPr>
          <p:cNvPr id="10" name="Text 8"/>
          <p:cNvSpPr/>
          <p:nvPr/>
        </p:nvSpPr>
        <p:spPr>
          <a:xfrm>
            <a:off x="1051560" y="2624328"/>
            <a:ext cx="457200" cy="457200"/>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2</a:t>
            </a:r>
            <a:endParaRPr lang="en-US" sz="2000" dirty="0"/>
          </a:p>
        </p:txBody>
      </p:sp>
      <p:sp>
        <p:nvSpPr>
          <p:cNvPr id="11" name="Text 9"/>
          <p:cNvSpPr/>
          <p:nvPr/>
        </p:nvSpPr>
        <p:spPr>
          <a:xfrm>
            <a:off x="1737360" y="2542032"/>
            <a:ext cx="6583680" cy="365760"/>
          </a:xfrm>
          <a:prstGeom prst="rect">
            <a:avLst/>
          </a:prstGeom>
          <a:noFill/>
          <a:ln/>
        </p:spPr>
        <p:txBody>
          <a:bodyPr wrap="square" lIns="0" tIns="0" rIns="0" bIns="0" rtlCol="0" anchor="ctr"/>
          <a:lstStyle/>
          <a:p>
            <a:pPr indent="0" marL="0">
              <a:buNone/>
            </a:pPr>
            <a:r>
              <a:rPr lang="en-US" sz="1800" b="1" dirty="0">
                <a:solidFill>
                  <a:srgbClr val="1F2A44"/>
                </a:solidFill>
                <a:latin typeface="Trebuchet MS" pitchFamily="34" charset="0"/>
                <a:ea typeface="Trebuchet MS" pitchFamily="34" charset="-122"/>
                <a:cs typeface="Trebuchet MS" pitchFamily="34" charset="-120"/>
              </a:rPr>
              <a:t>Infraestructura propia (JAMSEC)</a:t>
            </a:r>
            <a:endParaRPr lang="en-US" sz="1800" dirty="0"/>
          </a:p>
        </p:txBody>
      </p:sp>
      <p:sp>
        <p:nvSpPr>
          <p:cNvPr id="12" name="Text 10"/>
          <p:cNvSpPr/>
          <p:nvPr/>
        </p:nvSpPr>
        <p:spPr>
          <a:xfrm>
            <a:off x="1737360" y="2889504"/>
            <a:ext cx="8961120" cy="3200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Firewall, DMZ, servicios y SOC</a:t>
            </a:r>
            <a:endParaRPr lang="en-US" sz="1300" dirty="0"/>
          </a:p>
        </p:txBody>
      </p:sp>
      <p:sp>
        <p:nvSpPr>
          <p:cNvPr id="13" name="Shape 11"/>
          <p:cNvSpPr/>
          <p:nvPr/>
        </p:nvSpPr>
        <p:spPr>
          <a:xfrm>
            <a:off x="822960" y="3401568"/>
            <a:ext cx="10515600" cy="841248"/>
          </a:xfrm>
          <a:prstGeom prst="roundRect">
            <a:avLst>
              <a:gd name="adj" fmla="val 8696"/>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4" name="Shape 12"/>
          <p:cNvSpPr/>
          <p:nvPr/>
        </p:nvSpPr>
        <p:spPr>
          <a:xfrm>
            <a:off x="1051560" y="3593592"/>
            <a:ext cx="457200" cy="457200"/>
          </a:xfrm>
          <a:prstGeom prst="ellipse">
            <a:avLst/>
          </a:prstGeom>
          <a:solidFill>
            <a:srgbClr val="19C37D"/>
          </a:solidFill>
          <a:ln/>
        </p:spPr>
      </p:sp>
      <p:sp>
        <p:nvSpPr>
          <p:cNvPr id="15" name="Text 13"/>
          <p:cNvSpPr/>
          <p:nvPr/>
        </p:nvSpPr>
        <p:spPr>
          <a:xfrm>
            <a:off x="1051560" y="3593592"/>
            <a:ext cx="457200" cy="457200"/>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3</a:t>
            </a:r>
            <a:endParaRPr lang="en-US" sz="2000" dirty="0"/>
          </a:p>
        </p:txBody>
      </p:sp>
      <p:sp>
        <p:nvSpPr>
          <p:cNvPr id="16" name="Text 14"/>
          <p:cNvSpPr/>
          <p:nvPr/>
        </p:nvSpPr>
        <p:spPr>
          <a:xfrm>
            <a:off x="1737360" y="3511296"/>
            <a:ext cx="6583680" cy="365760"/>
          </a:xfrm>
          <a:prstGeom prst="rect">
            <a:avLst/>
          </a:prstGeom>
          <a:noFill/>
          <a:ln/>
        </p:spPr>
        <p:txBody>
          <a:bodyPr wrap="square" lIns="0" tIns="0" rIns="0" bIns="0" rtlCol="0" anchor="ctr"/>
          <a:lstStyle/>
          <a:p>
            <a:pPr indent="0" marL="0">
              <a:buNone/>
            </a:pPr>
            <a:r>
              <a:rPr lang="en-US" sz="1800" b="1" dirty="0">
                <a:solidFill>
                  <a:srgbClr val="1F2A44"/>
                </a:solidFill>
                <a:latin typeface="Trebuchet MS" pitchFamily="34" charset="0"/>
                <a:ea typeface="Trebuchet MS" pitchFamily="34" charset="-122"/>
                <a:cs typeface="Trebuchet MS" pitchFamily="34" charset="-120"/>
              </a:rPr>
              <a:t>Infraestructura del cliente (Apex)</a:t>
            </a:r>
            <a:endParaRPr lang="en-US" sz="1800" dirty="0"/>
          </a:p>
        </p:txBody>
      </p:sp>
      <p:sp>
        <p:nvSpPr>
          <p:cNvPr id="17" name="Text 15"/>
          <p:cNvSpPr/>
          <p:nvPr/>
        </p:nvSpPr>
        <p:spPr>
          <a:xfrm>
            <a:off x="1737360" y="3858768"/>
            <a:ext cx="8961120" cy="3200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Objetivo de la auditoría</a:t>
            </a:r>
            <a:endParaRPr lang="en-US" sz="1300" dirty="0"/>
          </a:p>
        </p:txBody>
      </p:sp>
      <p:sp>
        <p:nvSpPr>
          <p:cNvPr id="18" name="Shape 16"/>
          <p:cNvSpPr/>
          <p:nvPr/>
        </p:nvSpPr>
        <p:spPr>
          <a:xfrm>
            <a:off x="822960" y="4370832"/>
            <a:ext cx="10515600" cy="841248"/>
          </a:xfrm>
          <a:prstGeom prst="roundRect">
            <a:avLst>
              <a:gd name="adj" fmla="val 8696"/>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9" name="Shape 17"/>
          <p:cNvSpPr/>
          <p:nvPr/>
        </p:nvSpPr>
        <p:spPr>
          <a:xfrm>
            <a:off x="1051560" y="4562856"/>
            <a:ext cx="457200" cy="457200"/>
          </a:xfrm>
          <a:prstGeom prst="ellipse">
            <a:avLst/>
          </a:prstGeom>
          <a:solidFill>
            <a:srgbClr val="19C37D"/>
          </a:solidFill>
          <a:ln/>
        </p:spPr>
      </p:sp>
      <p:sp>
        <p:nvSpPr>
          <p:cNvPr id="20" name="Text 18"/>
          <p:cNvSpPr/>
          <p:nvPr/>
        </p:nvSpPr>
        <p:spPr>
          <a:xfrm>
            <a:off x="1051560" y="4562856"/>
            <a:ext cx="457200" cy="457200"/>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4</a:t>
            </a:r>
            <a:endParaRPr lang="en-US" sz="2000" dirty="0"/>
          </a:p>
        </p:txBody>
      </p:sp>
      <p:sp>
        <p:nvSpPr>
          <p:cNvPr id="21" name="Text 19"/>
          <p:cNvSpPr/>
          <p:nvPr/>
        </p:nvSpPr>
        <p:spPr>
          <a:xfrm>
            <a:off x="1737360" y="4480560"/>
            <a:ext cx="6583680" cy="365760"/>
          </a:xfrm>
          <a:prstGeom prst="rect">
            <a:avLst/>
          </a:prstGeom>
          <a:noFill/>
          <a:ln/>
        </p:spPr>
        <p:txBody>
          <a:bodyPr wrap="square" lIns="0" tIns="0" rIns="0" bIns="0" rtlCol="0" anchor="ctr"/>
          <a:lstStyle/>
          <a:p>
            <a:pPr indent="0" marL="0">
              <a:buNone/>
            </a:pPr>
            <a:r>
              <a:rPr lang="en-US" sz="1800" b="1" dirty="0">
                <a:solidFill>
                  <a:srgbClr val="1F2A44"/>
                </a:solidFill>
                <a:latin typeface="Trebuchet MS" pitchFamily="34" charset="0"/>
                <a:ea typeface="Trebuchet MS" pitchFamily="34" charset="-122"/>
                <a:cs typeface="Trebuchet MS" pitchFamily="34" charset="-120"/>
              </a:rPr>
              <a:t>Desarrollo y tecnologías</a:t>
            </a:r>
            <a:endParaRPr lang="en-US" sz="1800" dirty="0"/>
          </a:p>
        </p:txBody>
      </p:sp>
      <p:sp>
        <p:nvSpPr>
          <p:cNvPr id="22" name="Text 20"/>
          <p:cNvSpPr/>
          <p:nvPr/>
        </p:nvSpPr>
        <p:spPr>
          <a:xfrm>
            <a:off x="1737360" y="4828032"/>
            <a:ext cx="8961120" cy="3200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Cómo se construyó y por qué</a:t>
            </a:r>
            <a:endParaRPr lang="en-US" sz="1300" dirty="0"/>
          </a:p>
        </p:txBody>
      </p:sp>
      <p:sp>
        <p:nvSpPr>
          <p:cNvPr id="23" name="Shape 21"/>
          <p:cNvSpPr/>
          <p:nvPr/>
        </p:nvSpPr>
        <p:spPr>
          <a:xfrm>
            <a:off x="822960" y="5340096"/>
            <a:ext cx="10515600" cy="841248"/>
          </a:xfrm>
          <a:prstGeom prst="roundRect">
            <a:avLst>
              <a:gd name="adj" fmla="val 8696"/>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24" name="Shape 22"/>
          <p:cNvSpPr/>
          <p:nvPr/>
        </p:nvSpPr>
        <p:spPr>
          <a:xfrm>
            <a:off x="1051560" y="5532120"/>
            <a:ext cx="457200" cy="457200"/>
          </a:xfrm>
          <a:prstGeom prst="ellipse">
            <a:avLst/>
          </a:prstGeom>
          <a:solidFill>
            <a:srgbClr val="19C37D"/>
          </a:solidFill>
          <a:ln/>
        </p:spPr>
      </p:sp>
      <p:sp>
        <p:nvSpPr>
          <p:cNvPr id="25" name="Text 23"/>
          <p:cNvSpPr/>
          <p:nvPr/>
        </p:nvSpPr>
        <p:spPr>
          <a:xfrm>
            <a:off x="1051560" y="5532120"/>
            <a:ext cx="457200" cy="457200"/>
          </a:xfrm>
          <a:prstGeom prst="rect">
            <a:avLst/>
          </a:prstGeom>
          <a:noFill/>
          <a:ln/>
        </p:spPr>
        <p:txBody>
          <a:bodyPr wrap="square"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5</a:t>
            </a:r>
            <a:endParaRPr lang="en-US" sz="2000" dirty="0"/>
          </a:p>
        </p:txBody>
      </p:sp>
      <p:sp>
        <p:nvSpPr>
          <p:cNvPr id="26" name="Text 24"/>
          <p:cNvSpPr/>
          <p:nvPr/>
        </p:nvSpPr>
        <p:spPr>
          <a:xfrm>
            <a:off x="1737360" y="5449824"/>
            <a:ext cx="6583680" cy="365760"/>
          </a:xfrm>
          <a:prstGeom prst="rect">
            <a:avLst/>
          </a:prstGeom>
          <a:noFill/>
          <a:ln/>
        </p:spPr>
        <p:txBody>
          <a:bodyPr wrap="square" lIns="0" tIns="0" rIns="0" bIns="0" rtlCol="0" anchor="ctr"/>
          <a:lstStyle/>
          <a:p>
            <a:pPr indent="0" marL="0">
              <a:buNone/>
            </a:pPr>
            <a:r>
              <a:rPr lang="en-US" sz="1800" b="1" dirty="0">
                <a:solidFill>
                  <a:srgbClr val="1F2A44"/>
                </a:solidFill>
                <a:latin typeface="Trebuchet MS" pitchFamily="34" charset="0"/>
                <a:ea typeface="Trebuchet MS" pitchFamily="34" charset="-122"/>
                <a:cs typeface="Trebuchet MS" pitchFamily="34" charset="-120"/>
              </a:rPr>
              <a:t>Conclusiones</a:t>
            </a:r>
            <a:endParaRPr lang="en-US" sz="1800" dirty="0"/>
          </a:p>
        </p:txBody>
      </p:sp>
      <p:sp>
        <p:nvSpPr>
          <p:cNvPr id="27" name="Text 25"/>
          <p:cNvSpPr/>
          <p:nvPr/>
        </p:nvSpPr>
        <p:spPr>
          <a:xfrm>
            <a:off x="1737360" y="5797296"/>
            <a:ext cx="8961120" cy="3200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Dificultades, mejoras y costes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822960" y="2286000"/>
            <a:ext cx="164592" cy="1828800"/>
          </a:xfrm>
          <a:prstGeom prst="rect">
            <a:avLst/>
          </a:prstGeom>
          <a:solidFill>
            <a:srgbClr val="19C37D"/>
          </a:solidFill>
          <a:ln/>
        </p:spPr>
      </p:sp>
      <p:sp>
        <p:nvSpPr>
          <p:cNvPr id="3" name="Text 1"/>
          <p:cNvSpPr/>
          <p:nvPr/>
        </p:nvSpPr>
        <p:spPr>
          <a:xfrm>
            <a:off x="1188720" y="2011680"/>
            <a:ext cx="2743200" cy="1097280"/>
          </a:xfrm>
          <a:prstGeom prst="rect">
            <a:avLst/>
          </a:prstGeom>
          <a:noFill/>
          <a:ln/>
        </p:spPr>
        <p:txBody>
          <a:bodyPr wrap="square" rtlCol="0" anchor="ctr"/>
          <a:lstStyle/>
          <a:p>
            <a:pPr indent="0" marL="0">
              <a:buNone/>
            </a:pPr>
            <a:r>
              <a:rPr lang="en-US" sz="6400" b="1" dirty="0">
                <a:solidFill>
                  <a:srgbClr val="23344A"/>
                </a:solidFill>
                <a:latin typeface="Trebuchet MS" pitchFamily="34" charset="0"/>
                <a:ea typeface="Trebuchet MS" pitchFamily="34" charset="-122"/>
                <a:cs typeface="Trebuchet MS" pitchFamily="34" charset="-120"/>
              </a:rPr>
              <a:t>01</a:t>
            </a:r>
            <a:endParaRPr lang="en-US" sz="6400" dirty="0"/>
          </a:p>
        </p:txBody>
      </p:sp>
      <p:sp>
        <p:nvSpPr>
          <p:cNvPr id="4" name="Text 2"/>
          <p:cNvSpPr/>
          <p:nvPr/>
        </p:nvSpPr>
        <p:spPr>
          <a:xfrm>
            <a:off x="1188720" y="3108960"/>
            <a:ext cx="10058400" cy="100584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El proyecto</a:t>
            </a:r>
            <a:endParaRPr lang="en-US" sz="3400" dirty="0"/>
          </a:p>
        </p:txBody>
      </p:sp>
      <p:sp>
        <p:nvSpPr>
          <p:cNvPr id="5" name="Text 3"/>
          <p:cNvSpPr/>
          <p:nvPr/>
        </p:nvSpPr>
        <p:spPr>
          <a:xfrm>
            <a:off x="1207008" y="4114800"/>
            <a:ext cx="10058400" cy="548640"/>
          </a:xfrm>
          <a:prstGeom prst="rect">
            <a:avLst/>
          </a:prstGeom>
          <a:noFill/>
          <a:ln/>
        </p:spPr>
        <p:txBody>
          <a:bodyPr wrap="square" rtlCol="0" anchor="ctr"/>
          <a:lstStyle/>
          <a:p>
            <a:pPr indent="0" marL="0">
              <a:buNone/>
            </a:pPr>
            <a:r>
              <a:rPr lang="en-US" sz="1700" dirty="0">
                <a:solidFill>
                  <a:srgbClr val="AEB9C7"/>
                </a:solidFill>
                <a:latin typeface="Calibri" pitchFamily="34" charset="0"/>
                <a:ea typeface="Calibri" pitchFamily="34" charset="-122"/>
                <a:cs typeface="Calibri" pitchFamily="34" charset="-120"/>
              </a:rPr>
              <a:t>Una empresa de ciberseguridad y su cliente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indent="0" marL="0">
              <a:buNone/>
            </a:pPr>
            <a:r>
              <a:rPr lang="en-US" sz="3000" b="1" dirty="0">
                <a:solidFill>
                  <a:srgbClr val="1F2A44"/>
                </a:solidFill>
                <a:latin typeface="Trebuchet MS" pitchFamily="34" charset="0"/>
                <a:ea typeface="Trebuchet MS" pitchFamily="34" charset="-122"/>
                <a:cs typeface="Trebuchet MS" pitchFamily="34" charset="-120"/>
              </a:rPr>
              <a:t>Presentación del proyecto</a:t>
            </a:r>
            <a:endParaRPr lang="en-US" sz="3000" dirty="0"/>
          </a:p>
        </p:txBody>
      </p:sp>
      <p:sp>
        <p:nvSpPr>
          <p:cNvPr id="3" name="Text 1"/>
          <p:cNvSpPr/>
          <p:nvPr/>
        </p:nvSpPr>
        <p:spPr>
          <a:xfrm>
            <a:off x="822960" y="1371600"/>
            <a:ext cx="10515600" cy="914400"/>
          </a:xfrm>
          <a:prstGeom prst="rect">
            <a:avLst/>
          </a:prstGeom>
          <a:noFill/>
          <a:ln/>
        </p:spPr>
        <p:txBody>
          <a:bodyPr wrap="square" rtlCol="0" anchor="ctr"/>
          <a:lstStyle/>
          <a:p>
            <a:pPr indent="0" marL="0">
              <a:buNone/>
            </a:pPr>
            <a:r>
              <a:rPr lang="en-US" sz="1600" dirty="0">
                <a:solidFill>
                  <a:srgbClr val="1F2A44"/>
                </a:solidFill>
                <a:latin typeface="Calibri" pitchFamily="34" charset="0"/>
                <a:ea typeface="Calibri" pitchFamily="34" charset="-122"/>
                <a:cs typeface="Calibri" pitchFamily="34" charset="-120"/>
              </a:rPr>
              <a:t>JAMSEC es la empresa de ciberseguridad que represento en el proyecto. Monta su propia infraestructura, vigila la de sus clientes y, cuando se lo piden, los audita. Lo he montado todo sobre un clúster de virtualización real, con máquinas y servicios de verdad, no simulado.</a:t>
            </a:r>
            <a:endParaRPr lang="en-US" sz="1600" dirty="0"/>
          </a:p>
        </p:txBody>
      </p:sp>
      <p:sp>
        <p:nvSpPr>
          <p:cNvPr id="4" name="Shape 2"/>
          <p:cNvSpPr/>
          <p:nvPr/>
        </p:nvSpPr>
        <p:spPr>
          <a:xfrm>
            <a:off x="822960" y="2560320"/>
            <a:ext cx="3410712" cy="1737360"/>
          </a:xfrm>
          <a:prstGeom prst="roundRect">
            <a:avLst>
              <a:gd name="adj" fmla="val 4211"/>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5" name="Shape 3"/>
          <p:cNvSpPr/>
          <p:nvPr/>
        </p:nvSpPr>
        <p:spPr>
          <a:xfrm>
            <a:off x="822960" y="2560320"/>
            <a:ext cx="3410712" cy="109728"/>
          </a:xfrm>
          <a:prstGeom prst="rect">
            <a:avLst/>
          </a:prstGeom>
          <a:solidFill>
            <a:srgbClr val="19C37D"/>
          </a:solidFill>
          <a:ln/>
        </p:spPr>
      </p:sp>
      <p:sp>
        <p:nvSpPr>
          <p:cNvPr id="6" name="Text 4"/>
          <p:cNvSpPr/>
          <p:nvPr/>
        </p:nvSpPr>
        <p:spPr>
          <a:xfrm>
            <a:off x="1051560" y="2788920"/>
            <a:ext cx="3017520" cy="457200"/>
          </a:xfrm>
          <a:prstGeom prst="rect">
            <a:avLst/>
          </a:prstGeom>
          <a:noFill/>
          <a:ln/>
        </p:spPr>
        <p:txBody>
          <a:bodyPr wrap="square" lIns="0" tIns="0" rIns="0" bIns="0" rtlCol="0" anchor="ctr"/>
          <a:lstStyle/>
          <a:p>
            <a:pPr indent="0" marL="0">
              <a:buNone/>
            </a:pPr>
            <a:r>
              <a:rPr lang="en-US" sz="1800" b="1" dirty="0">
                <a:solidFill>
                  <a:srgbClr val="1F2A44"/>
                </a:solidFill>
                <a:latin typeface="Trebuchet MS" pitchFamily="34" charset="0"/>
                <a:ea typeface="Trebuchet MS" pitchFamily="34" charset="-122"/>
                <a:cs typeface="Trebuchet MS" pitchFamily="34" charset="-120"/>
              </a:rPr>
              <a:t>JAMSEC</a:t>
            </a:r>
            <a:endParaRPr lang="en-US" sz="1800" dirty="0"/>
          </a:p>
        </p:txBody>
      </p:sp>
      <p:sp>
        <p:nvSpPr>
          <p:cNvPr id="7" name="Text 5"/>
          <p:cNvSpPr/>
          <p:nvPr/>
        </p:nvSpPr>
        <p:spPr>
          <a:xfrm>
            <a:off x="1051560" y="3291840"/>
            <a:ext cx="3017520" cy="91440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La empresa de ciberseguridad: su propia infraestructura y un SOC desde el que vigila y ataca.</a:t>
            </a:r>
            <a:endParaRPr lang="en-US" sz="1300" dirty="0"/>
          </a:p>
        </p:txBody>
      </p:sp>
      <p:sp>
        <p:nvSpPr>
          <p:cNvPr id="8" name="Shape 6"/>
          <p:cNvSpPr/>
          <p:nvPr/>
        </p:nvSpPr>
        <p:spPr>
          <a:xfrm>
            <a:off x="4434840" y="2560320"/>
            <a:ext cx="3410712" cy="1737360"/>
          </a:xfrm>
          <a:prstGeom prst="roundRect">
            <a:avLst>
              <a:gd name="adj" fmla="val 4211"/>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9" name="Shape 7"/>
          <p:cNvSpPr/>
          <p:nvPr/>
        </p:nvSpPr>
        <p:spPr>
          <a:xfrm>
            <a:off x="4434840" y="2560320"/>
            <a:ext cx="3410712" cy="109728"/>
          </a:xfrm>
          <a:prstGeom prst="rect">
            <a:avLst/>
          </a:prstGeom>
          <a:solidFill>
            <a:srgbClr val="16407A"/>
          </a:solidFill>
          <a:ln/>
        </p:spPr>
      </p:sp>
      <p:sp>
        <p:nvSpPr>
          <p:cNvPr id="10" name="Text 8"/>
          <p:cNvSpPr/>
          <p:nvPr/>
        </p:nvSpPr>
        <p:spPr>
          <a:xfrm>
            <a:off x="4663440" y="2788920"/>
            <a:ext cx="3017520" cy="457200"/>
          </a:xfrm>
          <a:prstGeom prst="rect">
            <a:avLst/>
          </a:prstGeom>
          <a:noFill/>
          <a:ln/>
        </p:spPr>
        <p:txBody>
          <a:bodyPr wrap="square" lIns="0" tIns="0" rIns="0" bIns="0" rtlCol="0" anchor="ctr"/>
          <a:lstStyle/>
          <a:p>
            <a:pPr indent="0" marL="0">
              <a:buNone/>
            </a:pPr>
            <a:r>
              <a:rPr lang="en-US" sz="1800" b="1" dirty="0">
                <a:solidFill>
                  <a:srgbClr val="1F2A44"/>
                </a:solidFill>
                <a:latin typeface="Trebuchet MS" pitchFamily="34" charset="0"/>
                <a:ea typeface="Trebuchet MS" pitchFamily="34" charset="-122"/>
                <a:cs typeface="Trebuchet MS" pitchFamily="34" charset="-120"/>
              </a:rPr>
              <a:t>Apex Gestoría</a:t>
            </a:r>
            <a:endParaRPr lang="en-US" sz="1800" dirty="0"/>
          </a:p>
        </p:txBody>
      </p:sp>
      <p:sp>
        <p:nvSpPr>
          <p:cNvPr id="11" name="Text 9"/>
          <p:cNvSpPr/>
          <p:nvPr/>
        </p:nvSpPr>
        <p:spPr>
          <a:xfrm>
            <a:off x="4663440" y="3291840"/>
            <a:ext cx="3017520" cy="91440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El cliente, o más bien la víctima: la gestoría a la que acabo auditando.</a:t>
            </a:r>
            <a:endParaRPr lang="en-US" sz="1300" dirty="0"/>
          </a:p>
        </p:txBody>
      </p:sp>
      <p:sp>
        <p:nvSpPr>
          <p:cNvPr id="12" name="Shape 10"/>
          <p:cNvSpPr/>
          <p:nvPr/>
        </p:nvSpPr>
        <p:spPr>
          <a:xfrm>
            <a:off x="8046720" y="2560320"/>
            <a:ext cx="3410712" cy="1737360"/>
          </a:xfrm>
          <a:prstGeom prst="roundRect">
            <a:avLst>
              <a:gd name="adj" fmla="val 4211"/>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3" name="Shape 11"/>
          <p:cNvSpPr/>
          <p:nvPr/>
        </p:nvSpPr>
        <p:spPr>
          <a:xfrm>
            <a:off x="8046720" y="2560320"/>
            <a:ext cx="3410712" cy="109728"/>
          </a:xfrm>
          <a:prstGeom prst="rect">
            <a:avLst/>
          </a:prstGeom>
          <a:solidFill>
            <a:srgbClr val="7A869A"/>
          </a:solidFill>
          <a:ln/>
        </p:spPr>
      </p:sp>
      <p:sp>
        <p:nvSpPr>
          <p:cNvPr id="14" name="Text 12"/>
          <p:cNvSpPr/>
          <p:nvPr/>
        </p:nvSpPr>
        <p:spPr>
          <a:xfrm>
            <a:off x="8275320" y="2788920"/>
            <a:ext cx="3017520" cy="457200"/>
          </a:xfrm>
          <a:prstGeom prst="rect">
            <a:avLst/>
          </a:prstGeom>
          <a:noFill/>
          <a:ln/>
        </p:spPr>
        <p:txBody>
          <a:bodyPr wrap="square" lIns="0" tIns="0" rIns="0" bIns="0" rtlCol="0" anchor="ctr"/>
          <a:lstStyle/>
          <a:p>
            <a:pPr indent="0" marL="0">
              <a:buNone/>
            </a:pPr>
            <a:r>
              <a:rPr lang="en-US" sz="1800" b="1" dirty="0">
                <a:solidFill>
                  <a:srgbClr val="1F2A44"/>
                </a:solidFill>
                <a:latin typeface="Trebuchet MS" pitchFamily="34" charset="0"/>
                <a:ea typeface="Trebuchet MS" pitchFamily="34" charset="-122"/>
                <a:cs typeface="Trebuchet MS" pitchFamily="34" charset="-120"/>
              </a:rPr>
              <a:t>Plataforma</a:t>
            </a:r>
            <a:endParaRPr lang="en-US" sz="1800" dirty="0"/>
          </a:p>
        </p:txBody>
      </p:sp>
      <p:sp>
        <p:nvSpPr>
          <p:cNvPr id="15" name="Text 13"/>
          <p:cNvSpPr/>
          <p:nvPr/>
        </p:nvSpPr>
        <p:spPr>
          <a:xfrm>
            <a:off x="8275320" y="3291840"/>
            <a:ext cx="3017520" cy="91440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Un clúster Proxmox de 3 nodos. Cada empresa va en un nodo distinto, separadas de verdad.</a:t>
            </a:r>
            <a:endParaRPr lang="en-US" sz="1300" dirty="0"/>
          </a:p>
        </p:txBody>
      </p:sp>
      <p:sp>
        <p:nvSpPr>
          <p:cNvPr id="16" name="Text 14"/>
          <p:cNvSpPr/>
          <p:nvPr/>
        </p:nvSpPr>
        <p:spPr>
          <a:xfrm>
            <a:off x="822960" y="4572000"/>
            <a:ext cx="5486400" cy="365760"/>
          </a:xfrm>
          <a:prstGeom prst="rect">
            <a:avLst/>
          </a:prstGeom>
          <a:noFill/>
          <a:ln/>
        </p:spPr>
        <p:txBody>
          <a:bodyPr wrap="square" rtlCol="0" anchor="ctr"/>
          <a:lstStyle/>
          <a:p>
            <a:pPr indent="0" marL="0">
              <a:buNone/>
            </a:pPr>
            <a:r>
              <a:rPr lang="en-US" sz="1700" b="1" dirty="0">
                <a:solidFill>
                  <a:srgbClr val="19C37D"/>
                </a:solidFill>
                <a:latin typeface="Trebuchet MS" pitchFamily="34" charset="0"/>
                <a:ea typeface="Trebuchet MS" pitchFamily="34" charset="-122"/>
                <a:cs typeface="Trebuchet MS" pitchFamily="34" charset="-120"/>
              </a:rPr>
              <a:t>Objetivos</a:t>
            </a:r>
            <a:endParaRPr lang="en-US" sz="1700" dirty="0"/>
          </a:p>
        </p:txBody>
      </p:sp>
      <p:sp>
        <p:nvSpPr>
          <p:cNvPr id="17" name="Text 15"/>
          <p:cNvSpPr/>
          <p:nvPr/>
        </p:nvSpPr>
        <p:spPr>
          <a:xfrm>
            <a:off x="914400" y="4937760"/>
            <a:ext cx="10332720" cy="1554480"/>
          </a:xfrm>
          <a:prstGeom prst="rect">
            <a:avLst/>
          </a:prstGeom>
          <a:noFill/>
          <a:ln/>
        </p:spPr>
        <p:txBody>
          <a:bodyPr wrap="square" rtlCol="0" anchor="ctr"/>
          <a:lstStyle/>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Infraestructura empresarial propia (FW, DMZ, multirred).</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Infraestructura de cliente separada.</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IDS/IPS/SIEM que controle ambas.</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Auditoría de intrusión e informes técnico y ejecutivo.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822960" y="2286000"/>
            <a:ext cx="164592" cy="1828800"/>
          </a:xfrm>
          <a:prstGeom prst="rect">
            <a:avLst/>
          </a:prstGeom>
          <a:solidFill>
            <a:srgbClr val="19C37D"/>
          </a:solidFill>
          <a:ln/>
        </p:spPr>
      </p:sp>
      <p:sp>
        <p:nvSpPr>
          <p:cNvPr id="3" name="Text 1"/>
          <p:cNvSpPr/>
          <p:nvPr/>
        </p:nvSpPr>
        <p:spPr>
          <a:xfrm>
            <a:off x="1188720" y="2011680"/>
            <a:ext cx="2743200" cy="1097280"/>
          </a:xfrm>
          <a:prstGeom prst="rect">
            <a:avLst/>
          </a:prstGeom>
          <a:noFill/>
          <a:ln/>
        </p:spPr>
        <p:txBody>
          <a:bodyPr wrap="square" rtlCol="0" anchor="ctr"/>
          <a:lstStyle/>
          <a:p>
            <a:pPr indent="0" marL="0">
              <a:buNone/>
            </a:pPr>
            <a:r>
              <a:rPr lang="en-US" sz="6400" b="1" dirty="0">
                <a:solidFill>
                  <a:srgbClr val="23344A"/>
                </a:solidFill>
                <a:latin typeface="Trebuchet MS" pitchFamily="34" charset="0"/>
                <a:ea typeface="Trebuchet MS" pitchFamily="34" charset="-122"/>
                <a:cs typeface="Trebuchet MS" pitchFamily="34" charset="-120"/>
              </a:rPr>
              <a:t>02</a:t>
            </a:r>
            <a:endParaRPr lang="en-US" sz="6400" dirty="0"/>
          </a:p>
        </p:txBody>
      </p:sp>
      <p:sp>
        <p:nvSpPr>
          <p:cNvPr id="4" name="Text 2"/>
          <p:cNvSpPr/>
          <p:nvPr/>
        </p:nvSpPr>
        <p:spPr>
          <a:xfrm>
            <a:off x="1188720" y="3108960"/>
            <a:ext cx="10058400" cy="100584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Infraestructura propia (JAMSEC)</a:t>
            </a:r>
            <a:endParaRPr lang="en-US" sz="3400" dirty="0"/>
          </a:p>
        </p:txBody>
      </p:sp>
      <p:sp>
        <p:nvSpPr>
          <p:cNvPr id="5" name="Text 3"/>
          <p:cNvSpPr/>
          <p:nvPr/>
        </p:nvSpPr>
        <p:spPr>
          <a:xfrm>
            <a:off x="1207008" y="4114800"/>
            <a:ext cx="10058400" cy="548640"/>
          </a:xfrm>
          <a:prstGeom prst="rect">
            <a:avLst/>
          </a:prstGeom>
          <a:noFill/>
          <a:ln/>
        </p:spPr>
        <p:txBody>
          <a:bodyPr wrap="square" rtlCol="0" anchor="ctr"/>
          <a:lstStyle/>
          <a:p>
            <a:pPr indent="0" marL="0">
              <a:buNone/>
            </a:pPr>
            <a:r>
              <a:rPr lang="en-US" sz="1700" dirty="0">
                <a:solidFill>
                  <a:srgbClr val="AEB9C7"/>
                </a:solidFill>
                <a:latin typeface="Calibri" pitchFamily="34" charset="0"/>
                <a:ea typeface="Calibri" pitchFamily="34" charset="-122"/>
                <a:cs typeface="Calibri" pitchFamily="34" charset="-120"/>
              </a:rPr>
              <a:t>Firewall · DMZ · servicios separados · SOC</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indent="0" marL="0">
              <a:buNone/>
            </a:pPr>
            <a:r>
              <a:rPr lang="en-US" sz="3000" b="1" dirty="0">
                <a:solidFill>
                  <a:srgbClr val="1F2A44"/>
                </a:solidFill>
                <a:latin typeface="Trebuchet MS" pitchFamily="34" charset="0"/>
                <a:ea typeface="Trebuchet MS" pitchFamily="34" charset="-122"/>
                <a:cs typeface="Trebuchet MS" pitchFamily="34" charset="-120"/>
              </a:rPr>
              <a:t>Arquitectura de JAMSEC</a:t>
            </a:r>
            <a:endParaRPr lang="en-US" sz="3000" dirty="0"/>
          </a:p>
        </p:txBody>
      </p:sp>
      <p:sp>
        <p:nvSpPr>
          <p:cNvPr id="3" name="Text 1"/>
          <p:cNvSpPr/>
          <p:nvPr/>
        </p:nvSpPr>
        <p:spPr>
          <a:xfrm>
            <a:off x="822960" y="1280160"/>
            <a:ext cx="10515600" cy="457200"/>
          </a:xfrm>
          <a:prstGeom prst="rect">
            <a:avLst/>
          </a:prstGeom>
          <a:noFill/>
          <a:ln/>
        </p:spPr>
        <p:txBody>
          <a:bodyPr wrap="square" rtlCol="0" anchor="ctr"/>
          <a:lstStyle/>
          <a:p>
            <a:pPr indent="0" marL="0">
              <a:buNone/>
            </a:pPr>
            <a:r>
              <a:rPr lang="en-US" sz="1400" dirty="0">
                <a:solidFill>
                  <a:srgbClr val="6B7280"/>
                </a:solidFill>
                <a:latin typeface="Calibri" pitchFamily="34" charset="0"/>
                <a:ea typeface="Calibri" pitchFamily="34" charset="-122"/>
                <a:cs typeface="Calibri" pitchFamily="34" charset="-120"/>
              </a:rPr>
              <a:t>Nodo «proxmox» · Cortafuegos Debian + nftables (NAT y filtrado por zonas) · 4 redes</a:t>
            </a:r>
            <a:endParaRPr lang="en-US" sz="1400" dirty="0"/>
          </a:p>
        </p:txBody>
      </p:sp>
      <p:sp>
        <p:nvSpPr>
          <p:cNvPr id="4" name="Shape 2"/>
          <p:cNvSpPr/>
          <p:nvPr/>
        </p:nvSpPr>
        <p:spPr>
          <a:xfrm>
            <a:off x="4937760" y="2011680"/>
            <a:ext cx="2286000" cy="822960"/>
          </a:xfrm>
          <a:prstGeom prst="roundRect">
            <a:avLst>
              <a:gd name="adj" fmla="val 8889"/>
            </a:avLst>
          </a:prstGeom>
          <a:solidFill>
            <a:srgbClr val="16407A"/>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5" name="Text 3"/>
          <p:cNvSpPr/>
          <p:nvPr/>
        </p:nvSpPr>
        <p:spPr>
          <a:xfrm>
            <a:off x="4937760" y="2121408"/>
            <a:ext cx="228600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jamsec-fw</a:t>
            </a:r>
            <a:endParaRPr lang="en-US" sz="1500" dirty="0"/>
          </a:p>
        </p:txBody>
      </p:sp>
      <p:sp>
        <p:nvSpPr>
          <p:cNvPr id="6" name="Text 4"/>
          <p:cNvSpPr/>
          <p:nvPr/>
        </p:nvSpPr>
        <p:spPr>
          <a:xfrm>
            <a:off x="4937760" y="2450592"/>
            <a:ext cx="2286000" cy="292608"/>
          </a:xfrm>
          <a:prstGeom prst="rect">
            <a:avLst/>
          </a:prstGeom>
          <a:noFill/>
          <a:ln/>
        </p:spPr>
        <p:txBody>
          <a:bodyPr wrap="square" lIns="0" tIns="0" rIns="0" bIns="0" rtlCol="0" anchor="ctr"/>
          <a:lstStyle/>
          <a:p>
            <a:pPr algn="ctr" indent="0" marL="0">
              <a:buNone/>
            </a:pPr>
            <a:r>
              <a:rPr lang="en-US" sz="1100" dirty="0">
                <a:solidFill>
                  <a:srgbClr val="CADCFC"/>
                </a:solidFill>
                <a:latin typeface="Calibri" pitchFamily="34" charset="0"/>
                <a:ea typeface="Calibri" pitchFamily="34" charset="-122"/>
                <a:cs typeface="Calibri" pitchFamily="34" charset="-120"/>
              </a:rPr>
              <a:t>nftables + Suricata</a:t>
            </a:r>
            <a:endParaRPr lang="en-US" sz="1100" dirty="0"/>
          </a:p>
        </p:txBody>
      </p:sp>
      <p:sp>
        <p:nvSpPr>
          <p:cNvPr id="7" name="Shape 5"/>
          <p:cNvSpPr/>
          <p:nvPr/>
        </p:nvSpPr>
        <p:spPr>
          <a:xfrm>
            <a:off x="822960" y="3749040"/>
            <a:ext cx="3017520" cy="1371600"/>
          </a:xfrm>
          <a:prstGeom prst="roundRect">
            <a:avLst>
              <a:gd name="adj" fmla="val 5333"/>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8" name="Text 6"/>
          <p:cNvSpPr/>
          <p:nvPr/>
        </p:nvSpPr>
        <p:spPr>
          <a:xfrm>
            <a:off x="1005840" y="3931920"/>
            <a:ext cx="2697480" cy="457200"/>
          </a:xfrm>
          <a:prstGeom prst="rect">
            <a:avLst/>
          </a:prstGeom>
          <a:noFill/>
          <a:ln/>
        </p:spPr>
        <p:txBody>
          <a:bodyPr wrap="square" lIns="0" tIns="0" rIns="0" bIns="0" rtlCol="0" anchor="ctr"/>
          <a:lstStyle/>
          <a:p>
            <a:pPr indent="0" marL="0">
              <a:buNone/>
            </a:pPr>
            <a:r>
              <a:rPr lang="en-US" sz="1350" b="1" dirty="0">
                <a:solidFill>
                  <a:srgbClr val="16407A"/>
                </a:solidFill>
                <a:latin typeface="Trebuchet MS" pitchFamily="34" charset="0"/>
                <a:ea typeface="Trebuchet MS" pitchFamily="34" charset="-122"/>
                <a:cs typeface="Trebuchet MS" pitchFamily="34" charset="-120"/>
              </a:rPr>
              <a:t>SOC — 10.20.10.0/24</a:t>
            </a:r>
            <a:endParaRPr lang="en-US" sz="1350" dirty="0"/>
          </a:p>
        </p:txBody>
      </p:sp>
      <p:sp>
        <p:nvSpPr>
          <p:cNvPr id="9" name="Text 7"/>
          <p:cNvSpPr/>
          <p:nvPr/>
        </p:nvSpPr>
        <p:spPr>
          <a:xfrm>
            <a:off x="1005840" y="4434840"/>
            <a:ext cx="269748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Red team (Kali) + Wazuh (SIEM)</a:t>
            </a:r>
            <a:endParaRPr lang="en-US" sz="1200" dirty="0"/>
          </a:p>
        </p:txBody>
      </p:sp>
      <p:sp>
        <p:nvSpPr>
          <p:cNvPr id="10" name="Shape 8"/>
          <p:cNvSpPr/>
          <p:nvPr/>
        </p:nvSpPr>
        <p:spPr>
          <a:xfrm>
            <a:off x="4572000" y="3749040"/>
            <a:ext cx="3017520" cy="1371600"/>
          </a:xfrm>
          <a:prstGeom prst="roundRect">
            <a:avLst>
              <a:gd name="adj" fmla="val 5333"/>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1" name="Text 9"/>
          <p:cNvSpPr/>
          <p:nvPr/>
        </p:nvSpPr>
        <p:spPr>
          <a:xfrm>
            <a:off x="4754880" y="3931920"/>
            <a:ext cx="2697480" cy="457200"/>
          </a:xfrm>
          <a:prstGeom prst="rect">
            <a:avLst/>
          </a:prstGeom>
          <a:noFill/>
          <a:ln/>
        </p:spPr>
        <p:txBody>
          <a:bodyPr wrap="square" lIns="0" tIns="0" rIns="0" bIns="0" rtlCol="0" anchor="ctr"/>
          <a:lstStyle/>
          <a:p>
            <a:pPr indent="0" marL="0">
              <a:buNone/>
            </a:pPr>
            <a:r>
              <a:rPr lang="en-US" sz="1350" b="1" dirty="0">
                <a:solidFill>
                  <a:srgbClr val="16407A"/>
                </a:solidFill>
                <a:latin typeface="Trebuchet MS" pitchFamily="34" charset="0"/>
                <a:ea typeface="Trebuchet MS" pitchFamily="34" charset="-122"/>
                <a:cs typeface="Trebuchet MS" pitchFamily="34" charset="-120"/>
              </a:rPr>
              <a:t>DMZ — 10.20.20.0/24</a:t>
            </a:r>
            <a:endParaRPr lang="en-US" sz="1350" dirty="0"/>
          </a:p>
        </p:txBody>
      </p:sp>
      <p:sp>
        <p:nvSpPr>
          <p:cNvPr id="12" name="Text 10"/>
          <p:cNvSpPr/>
          <p:nvPr/>
        </p:nvSpPr>
        <p:spPr>
          <a:xfrm>
            <a:off x="4754880" y="4434840"/>
            <a:ext cx="269748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Web corporativa (nginx)</a:t>
            </a:r>
            <a:endParaRPr lang="en-US" sz="1200" dirty="0"/>
          </a:p>
        </p:txBody>
      </p:sp>
      <p:sp>
        <p:nvSpPr>
          <p:cNvPr id="13" name="Shape 11"/>
          <p:cNvSpPr/>
          <p:nvPr/>
        </p:nvSpPr>
        <p:spPr>
          <a:xfrm>
            <a:off x="8321040" y="3749040"/>
            <a:ext cx="3017520" cy="1371600"/>
          </a:xfrm>
          <a:prstGeom prst="roundRect">
            <a:avLst>
              <a:gd name="adj" fmla="val 5333"/>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4" name="Text 12"/>
          <p:cNvSpPr/>
          <p:nvPr/>
        </p:nvSpPr>
        <p:spPr>
          <a:xfrm>
            <a:off x="8503920" y="3931920"/>
            <a:ext cx="2697480" cy="457200"/>
          </a:xfrm>
          <a:prstGeom prst="rect">
            <a:avLst/>
          </a:prstGeom>
          <a:noFill/>
          <a:ln/>
        </p:spPr>
        <p:txBody>
          <a:bodyPr wrap="square" lIns="0" tIns="0" rIns="0" bIns="0" rtlCol="0" anchor="ctr"/>
          <a:lstStyle/>
          <a:p>
            <a:pPr indent="0" marL="0">
              <a:buNone/>
            </a:pPr>
            <a:r>
              <a:rPr lang="en-US" sz="1350" b="1" dirty="0">
                <a:solidFill>
                  <a:srgbClr val="16407A"/>
                </a:solidFill>
                <a:latin typeface="Trebuchet MS" pitchFamily="34" charset="0"/>
                <a:ea typeface="Trebuchet MS" pitchFamily="34" charset="-122"/>
                <a:cs typeface="Trebuchet MS" pitchFamily="34" charset="-120"/>
              </a:rPr>
              <a:t>Servicios — 10.20.30.0/24</a:t>
            </a:r>
            <a:endParaRPr lang="en-US" sz="1350" dirty="0"/>
          </a:p>
        </p:txBody>
      </p:sp>
      <p:sp>
        <p:nvSpPr>
          <p:cNvPr id="15" name="Text 13"/>
          <p:cNvSpPr/>
          <p:nvPr/>
        </p:nvSpPr>
        <p:spPr>
          <a:xfrm>
            <a:off x="8503920" y="4434840"/>
            <a:ext cx="2697480" cy="5486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Ficheros internos (Samba)</a:t>
            </a:r>
            <a:endParaRPr lang="en-US" sz="1200" dirty="0"/>
          </a:p>
        </p:txBody>
      </p:sp>
      <p:sp>
        <p:nvSpPr>
          <p:cNvPr id="16" name="Shape 14"/>
          <p:cNvSpPr/>
          <p:nvPr/>
        </p:nvSpPr>
        <p:spPr>
          <a:xfrm>
            <a:off x="2331720" y="2834640"/>
            <a:ext cx="0" cy="914400"/>
          </a:xfrm>
          <a:prstGeom prst="line">
            <a:avLst/>
          </a:prstGeom>
          <a:noFill/>
          <a:ln w="19050">
            <a:solidFill>
              <a:srgbClr val="19C37D"/>
            </a:solidFill>
            <a:prstDash val="solid"/>
          </a:ln>
        </p:spPr>
      </p:sp>
      <p:sp>
        <p:nvSpPr>
          <p:cNvPr id="17" name="Shape 15"/>
          <p:cNvSpPr/>
          <p:nvPr/>
        </p:nvSpPr>
        <p:spPr>
          <a:xfrm>
            <a:off x="6080760" y="2834640"/>
            <a:ext cx="0" cy="914400"/>
          </a:xfrm>
          <a:prstGeom prst="line">
            <a:avLst/>
          </a:prstGeom>
          <a:noFill/>
          <a:ln w="19050">
            <a:solidFill>
              <a:srgbClr val="19C37D"/>
            </a:solidFill>
            <a:prstDash val="solid"/>
          </a:ln>
        </p:spPr>
      </p:sp>
      <p:sp>
        <p:nvSpPr>
          <p:cNvPr id="18" name="Shape 16"/>
          <p:cNvSpPr/>
          <p:nvPr/>
        </p:nvSpPr>
        <p:spPr>
          <a:xfrm>
            <a:off x="9829800" y="2834640"/>
            <a:ext cx="0" cy="914400"/>
          </a:xfrm>
          <a:prstGeom prst="line">
            <a:avLst/>
          </a:prstGeom>
          <a:noFill/>
          <a:ln w="19050">
            <a:solidFill>
              <a:srgbClr val="19C37D"/>
            </a:solidFill>
            <a:prstDash val="solid"/>
          </a:ln>
        </p:spPr>
      </p:sp>
      <p:sp>
        <p:nvSpPr>
          <p:cNvPr id="19" name="Text 17"/>
          <p:cNvSpPr/>
          <p:nvPr/>
        </p:nvSpPr>
        <p:spPr>
          <a:xfrm>
            <a:off x="822960" y="5440680"/>
            <a:ext cx="10515600" cy="822960"/>
          </a:xfrm>
          <a:prstGeom prst="rect">
            <a:avLst/>
          </a:prstGeom>
          <a:noFill/>
          <a:ln/>
        </p:spPr>
        <p:txBody>
          <a:bodyPr wrap="square" rtlCol="0" anchor="ctr"/>
          <a:lstStyle/>
          <a:p>
            <a:pPr indent="0" marL="0">
              <a:buNone/>
            </a:pPr>
            <a:r>
              <a:rPr lang="en-US" sz="1300" i="1" dirty="0">
                <a:solidFill>
                  <a:srgbClr val="1F2A44"/>
                </a:solidFill>
                <a:latin typeface="Calibri" pitchFamily="34" charset="0"/>
                <a:ea typeface="Calibri" pitchFamily="34" charset="-122"/>
                <a:cs typeface="Calibri" pitchFamily="34" charset="-120"/>
              </a:rPr>
              <a:t>La idea es sencilla: si alguien reventara la web de la DMZ, no debería poder llegar ni a los ficheros internos ni al SOC. Lo comprobé y, efectivamente, desde la DMZ no se llega a la red interna.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822960" y="2286000"/>
            <a:ext cx="164592" cy="1828800"/>
          </a:xfrm>
          <a:prstGeom prst="rect">
            <a:avLst/>
          </a:prstGeom>
          <a:solidFill>
            <a:srgbClr val="19C37D"/>
          </a:solidFill>
          <a:ln/>
        </p:spPr>
      </p:sp>
      <p:sp>
        <p:nvSpPr>
          <p:cNvPr id="3" name="Text 1"/>
          <p:cNvSpPr/>
          <p:nvPr/>
        </p:nvSpPr>
        <p:spPr>
          <a:xfrm>
            <a:off x="1188720" y="2011680"/>
            <a:ext cx="2743200" cy="1097280"/>
          </a:xfrm>
          <a:prstGeom prst="rect">
            <a:avLst/>
          </a:prstGeom>
          <a:noFill/>
          <a:ln/>
        </p:spPr>
        <p:txBody>
          <a:bodyPr wrap="square" rtlCol="0" anchor="ctr"/>
          <a:lstStyle/>
          <a:p>
            <a:pPr indent="0" marL="0">
              <a:buNone/>
            </a:pPr>
            <a:r>
              <a:rPr lang="en-US" sz="6400" b="1" dirty="0">
                <a:solidFill>
                  <a:srgbClr val="23344A"/>
                </a:solidFill>
                <a:latin typeface="Trebuchet MS" pitchFamily="34" charset="0"/>
                <a:ea typeface="Trebuchet MS" pitchFamily="34" charset="-122"/>
                <a:cs typeface="Trebuchet MS" pitchFamily="34" charset="-120"/>
              </a:rPr>
              <a:t>03</a:t>
            </a:r>
            <a:endParaRPr lang="en-US" sz="6400" dirty="0"/>
          </a:p>
        </p:txBody>
      </p:sp>
      <p:sp>
        <p:nvSpPr>
          <p:cNvPr id="4" name="Text 2"/>
          <p:cNvSpPr/>
          <p:nvPr/>
        </p:nvSpPr>
        <p:spPr>
          <a:xfrm>
            <a:off x="1188720" y="3108960"/>
            <a:ext cx="10058400" cy="100584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Infraestructura del cliente (Apex)</a:t>
            </a:r>
            <a:endParaRPr lang="en-US" sz="3400" dirty="0"/>
          </a:p>
        </p:txBody>
      </p:sp>
      <p:sp>
        <p:nvSpPr>
          <p:cNvPr id="5" name="Text 3"/>
          <p:cNvSpPr/>
          <p:nvPr/>
        </p:nvSpPr>
        <p:spPr>
          <a:xfrm>
            <a:off x="1207008" y="4114800"/>
            <a:ext cx="10058400" cy="548640"/>
          </a:xfrm>
          <a:prstGeom prst="rect">
            <a:avLst/>
          </a:prstGeom>
          <a:noFill/>
          <a:ln/>
        </p:spPr>
        <p:txBody>
          <a:bodyPr wrap="square" rtlCol="0" anchor="ctr"/>
          <a:lstStyle/>
          <a:p>
            <a:pPr indent="0" marL="0">
              <a:buNone/>
            </a:pPr>
            <a:r>
              <a:rPr lang="en-US" sz="1700" dirty="0">
                <a:solidFill>
                  <a:srgbClr val="AEB9C7"/>
                </a:solidFill>
                <a:latin typeface="Calibri" pitchFamily="34" charset="0"/>
                <a:ea typeface="Calibri" pitchFamily="34" charset="-122"/>
                <a:cs typeface="Calibri" pitchFamily="34" charset="-120"/>
              </a:rPr>
              <a:t>El objetivo de la auditoría — con debilidades reales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indent="0" marL="0">
              <a:buNone/>
            </a:pPr>
            <a:r>
              <a:rPr lang="en-US" sz="3000" b="1" dirty="0">
                <a:solidFill>
                  <a:srgbClr val="1F2A44"/>
                </a:solidFill>
                <a:latin typeface="Trebuchet MS" pitchFamily="34" charset="0"/>
                <a:ea typeface="Trebuchet MS" pitchFamily="34" charset="-122"/>
                <a:cs typeface="Trebuchet MS" pitchFamily="34" charset="-120"/>
              </a:rPr>
              <a:t>Arquitectura del cliente Apex Gestoría</a:t>
            </a:r>
            <a:endParaRPr lang="en-US" sz="3000" dirty="0"/>
          </a:p>
        </p:txBody>
      </p:sp>
      <p:sp>
        <p:nvSpPr>
          <p:cNvPr id="3" name="Text 1"/>
          <p:cNvSpPr/>
          <p:nvPr/>
        </p:nvSpPr>
        <p:spPr>
          <a:xfrm>
            <a:off x="822960" y="1280160"/>
            <a:ext cx="10515600" cy="457200"/>
          </a:xfrm>
          <a:prstGeom prst="rect">
            <a:avLst/>
          </a:prstGeom>
          <a:noFill/>
          <a:ln/>
        </p:spPr>
        <p:txBody>
          <a:bodyPr wrap="square" rtlCol="0" anchor="ctr"/>
          <a:lstStyle/>
          <a:p>
            <a:pPr indent="0" marL="0">
              <a:buNone/>
            </a:pPr>
            <a:r>
              <a:rPr lang="en-US" sz="1400" dirty="0">
                <a:solidFill>
                  <a:srgbClr val="6B7280"/>
                </a:solidFill>
                <a:latin typeface="Calibri" pitchFamily="34" charset="0"/>
                <a:ea typeface="Calibri" pitchFamily="34" charset="-122"/>
                <a:cs typeface="Calibri" pitchFamily="34" charset="-120"/>
              </a:rPr>
              <a:t>Nodo «pve2», separado físicamente de JAMSEC · cortafuegos propio · DMZ + LAN interna</a:t>
            </a:r>
            <a:endParaRPr lang="en-US" sz="1400" dirty="0"/>
          </a:p>
        </p:txBody>
      </p:sp>
      <p:sp>
        <p:nvSpPr>
          <p:cNvPr id="4" name="Shape 2"/>
          <p:cNvSpPr/>
          <p:nvPr/>
        </p:nvSpPr>
        <p:spPr>
          <a:xfrm>
            <a:off x="822960" y="2011680"/>
            <a:ext cx="5212080" cy="1554480"/>
          </a:xfrm>
          <a:prstGeom prst="roundRect">
            <a:avLst>
              <a:gd name="adj" fmla="val 4706"/>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5" name="Shape 3"/>
          <p:cNvSpPr/>
          <p:nvPr/>
        </p:nvSpPr>
        <p:spPr>
          <a:xfrm>
            <a:off x="822960" y="2011680"/>
            <a:ext cx="109728" cy="1554480"/>
          </a:xfrm>
          <a:prstGeom prst="rect">
            <a:avLst/>
          </a:prstGeom>
          <a:solidFill>
            <a:srgbClr val="C0392B"/>
          </a:solidFill>
          <a:ln/>
        </p:spPr>
      </p:sp>
      <p:sp>
        <p:nvSpPr>
          <p:cNvPr id="6" name="Text 4"/>
          <p:cNvSpPr/>
          <p:nvPr/>
        </p:nvSpPr>
        <p:spPr>
          <a:xfrm>
            <a:off x="1097280" y="2176272"/>
            <a:ext cx="4754880" cy="36576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apex-fw</a:t>
            </a:r>
            <a:endParaRPr lang="en-US" sz="1600" dirty="0"/>
          </a:p>
        </p:txBody>
      </p:sp>
      <p:sp>
        <p:nvSpPr>
          <p:cNvPr id="7" name="Text 5"/>
          <p:cNvSpPr/>
          <p:nvPr/>
        </p:nvSpPr>
        <p:spPr>
          <a:xfrm>
            <a:off x="1097280" y="2578608"/>
            <a:ext cx="4754880" cy="320040"/>
          </a:xfrm>
          <a:prstGeom prst="rect">
            <a:avLst/>
          </a:prstGeom>
          <a:noFill/>
          <a:ln/>
        </p:spPr>
        <p:txBody>
          <a:bodyPr wrap="square" lIns="0" tIns="0" rIns="0" bIns="0" rtlCol="0" anchor="ctr"/>
          <a:lstStyle/>
          <a:p>
            <a:pPr indent="0" marL="0">
              <a:buNone/>
            </a:pPr>
            <a:r>
              <a:rPr lang="en-US" sz="1300" dirty="0">
                <a:solidFill>
                  <a:srgbClr val="16407A"/>
                </a:solidFill>
                <a:latin typeface="Calibri" pitchFamily="34" charset="0"/>
                <a:ea typeface="Calibri" pitchFamily="34" charset="-122"/>
                <a:cs typeface="Calibri" pitchFamily="34" charset="-120"/>
              </a:rPr>
              <a:t>Cortafuegos perimetral</a:t>
            </a:r>
            <a:endParaRPr lang="en-US" sz="1300" dirty="0"/>
          </a:p>
        </p:txBody>
      </p:sp>
      <p:sp>
        <p:nvSpPr>
          <p:cNvPr id="8" name="Text 6"/>
          <p:cNvSpPr/>
          <p:nvPr/>
        </p:nvSpPr>
        <p:spPr>
          <a:xfrm>
            <a:off x="1097280" y="2926080"/>
            <a:ext cx="4754880" cy="502920"/>
          </a:xfrm>
          <a:prstGeom prst="rect">
            <a:avLst/>
          </a:prstGeom>
          <a:noFill/>
          <a:ln/>
        </p:spPr>
        <p:txBody>
          <a:bodyPr wrap="square" lIns="0" tIns="0" rIns="0" bIns="0" rtlCol="0" anchor="ctr"/>
          <a:lstStyle/>
          <a:p>
            <a:pPr indent="0" marL="0">
              <a:buNone/>
            </a:pPr>
            <a:r>
              <a:rPr lang="en-US" sz="1200" i="1" dirty="0">
                <a:solidFill>
                  <a:srgbClr val="C0392B"/>
                </a:solidFill>
                <a:latin typeface="Calibri" pitchFamily="34" charset="0"/>
                <a:ea typeface="Calibri" pitchFamily="34" charset="-122"/>
                <a:cs typeface="Calibri" pitchFamily="34" charset="-120"/>
              </a:rPr>
              <a:t>Segmentación débil: la DMZ accede a la LAN</a:t>
            </a:r>
            <a:endParaRPr lang="en-US" sz="1200" dirty="0"/>
          </a:p>
        </p:txBody>
      </p:sp>
      <p:sp>
        <p:nvSpPr>
          <p:cNvPr id="9" name="Shape 7"/>
          <p:cNvSpPr/>
          <p:nvPr/>
        </p:nvSpPr>
        <p:spPr>
          <a:xfrm>
            <a:off x="6263640" y="2011680"/>
            <a:ext cx="5212080" cy="1554480"/>
          </a:xfrm>
          <a:prstGeom prst="roundRect">
            <a:avLst>
              <a:gd name="adj" fmla="val 4706"/>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0" name="Shape 8"/>
          <p:cNvSpPr/>
          <p:nvPr/>
        </p:nvSpPr>
        <p:spPr>
          <a:xfrm>
            <a:off x="6263640" y="2011680"/>
            <a:ext cx="109728" cy="1554480"/>
          </a:xfrm>
          <a:prstGeom prst="rect">
            <a:avLst/>
          </a:prstGeom>
          <a:solidFill>
            <a:srgbClr val="C0392B"/>
          </a:solidFill>
          <a:ln/>
        </p:spPr>
      </p:sp>
      <p:sp>
        <p:nvSpPr>
          <p:cNvPr id="11" name="Text 9"/>
          <p:cNvSpPr/>
          <p:nvPr/>
        </p:nvSpPr>
        <p:spPr>
          <a:xfrm>
            <a:off x="6537960" y="2176272"/>
            <a:ext cx="4754880" cy="36576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apex-web (DMZ)</a:t>
            </a:r>
            <a:endParaRPr lang="en-US" sz="1600" dirty="0"/>
          </a:p>
        </p:txBody>
      </p:sp>
      <p:sp>
        <p:nvSpPr>
          <p:cNvPr id="12" name="Text 10"/>
          <p:cNvSpPr/>
          <p:nvPr/>
        </p:nvSpPr>
        <p:spPr>
          <a:xfrm>
            <a:off x="6537960" y="2578608"/>
            <a:ext cx="4754880" cy="320040"/>
          </a:xfrm>
          <a:prstGeom prst="rect">
            <a:avLst/>
          </a:prstGeom>
          <a:noFill/>
          <a:ln/>
        </p:spPr>
        <p:txBody>
          <a:bodyPr wrap="square" lIns="0" tIns="0" rIns="0" bIns="0" rtlCol="0" anchor="ctr"/>
          <a:lstStyle/>
          <a:p>
            <a:pPr indent="0" marL="0">
              <a:buNone/>
            </a:pPr>
            <a:r>
              <a:rPr lang="en-US" sz="1300" dirty="0">
                <a:solidFill>
                  <a:srgbClr val="16407A"/>
                </a:solidFill>
                <a:latin typeface="Calibri" pitchFamily="34" charset="0"/>
                <a:ea typeface="Calibri" pitchFamily="34" charset="-122"/>
                <a:cs typeface="Calibri" pitchFamily="34" charset="-120"/>
              </a:rPr>
              <a:t>Web Apache + PHP</a:t>
            </a:r>
            <a:endParaRPr lang="en-US" sz="1300" dirty="0"/>
          </a:p>
        </p:txBody>
      </p:sp>
      <p:sp>
        <p:nvSpPr>
          <p:cNvPr id="13" name="Text 11"/>
          <p:cNvSpPr/>
          <p:nvPr/>
        </p:nvSpPr>
        <p:spPr>
          <a:xfrm>
            <a:off x="6537960" y="2926080"/>
            <a:ext cx="4754880" cy="502920"/>
          </a:xfrm>
          <a:prstGeom prst="rect">
            <a:avLst/>
          </a:prstGeom>
          <a:noFill/>
          <a:ln/>
        </p:spPr>
        <p:txBody>
          <a:bodyPr wrap="square" lIns="0" tIns="0" rIns="0" bIns="0" rtlCol="0" anchor="ctr"/>
          <a:lstStyle/>
          <a:p>
            <a:pPr indent="0" marL="0">
              <a:buNone/>
            </a:pPr>
            <a:r>
              <a:rPr lang="en-US" sz="1200" i="1" dirty="0">
                <a:solidFill>
                  <a:srgbClr val="C0392B"/>
                </a:solidFill>
                <a:latin typeface="Calibri" pitchFamily="34" charset="0"/>
                <a:ea typeface="Calibri" pitchFamily="34" charset="-122"/>
                <a:cs typeface="Calibri" pitchFamily="34" charset="-120"/>
              </a:rPr>
              <a:t>SQL injection · subida de ficheros · sin TLS</a:t>
            </a:r>
            <a:endParaRPr lang="en-US" sz="1200" dirty="0"/>
          </a:p>
        </p:txBody>
      </p:sp>
      <p:sp>
        <p:nvSpPr>
          <p:cNvPr id="14" name="Shape 12"/>
          <p:cNvSpPr/>
          <p:nvPr/>
        </p:nvSpPr>
        <p:spPr>
          <a:xfrm>
            <a:off x="822960" y="3794760"/>
            <a:ext cx="5212080" cy="1554480"/>
          </a:xfrm>
          <a:prstGeom prst="roundRect">
            <a:avLst>
              <a:gd name="adj" fmla="val 4706"/>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5" name="Shape 13"/>
          <p:cNvSpPr/>
          <p:nvPr/>
        </p:nvSpPr>
        <p:spPr>
          <a:xfrm>
            <a:off x="822960" y="3794760"/>
            <a:ext cx="109728" cy="1554480"/>
          </a:xfrm>
          <a:prstGeom prst="rect">
            <a:avLst/>
          </a:prstGeom>
          <a:solidFill>
            <a:srgbClr val="C0392B"/>
          </a:solidFill>
          <a:ln/>
        </p:spPr>
      </p:sp>
      <p:sp>
        <p:nvSpPr>
          <p:cNvPr id="16" name="Text 14"/>
          <p:cNvSpPr/>
          <p:nvPr/>
        </p:nvSpPr>
        <p:spPr>
          <a:xfrm>
            <a:off x="1097280" y="3959352"/>
            <a:ext cx="4754880" cy="36576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apex-db (LAN)</a:t>
            </a:r>
            <a:endParaRPr lang="en-US" sz="1600" dirty="0"/>
          </a:p>
        </p:txBody>
      </p:sp>
      <p:sp>
        <p:nvSpPr>
          <p:cNvPr id="17" name="Text 15"/>
          <p:cNvSpPr/>
          <p:nvPr/>
        </p:nvSpPr>
        <p:spPr>
          <a:xfrm>
            <a:off x="1097280" y="4361688"/>
            <a:ext cx="4754880" cy="320040"/>
          </a:xfrm>
          <a:prstGeom prst="rect">
            <a:avLst/>
          </a:prstGeom>
          <a:noFill/>
          <a:ln/>
        </p:spPr>
        <p:txBody>
          <a:bodyPr wrap="square" lIns="0" tIns="0" rIns="0" bIns="0" rtlCol="0" anchor="ctr"/>
          <a:lstStyle/>
          <a:p>
            <a:pPr indent="0" marL="0">
              <a:buNone/>
            </a:pPr>
            <a:r>
              <a:rPr lang="en-US" sz="1300" dirty="0">
                <a:solidFill>
                  <a:srgbClr val="16407A"/>
                </a:solidFill>
                <a:latin typeface="Calibri" pitchFamily="34" charset="0"/>
                <a:ea typeface="Calibri" pitchFamily="34" charset="-122"/>
                <a:cs typeface="Calibri" pitchFamily="34" charset="-120"/>
              </a:rPr>
              <a:t>Base de datos MariaDB</a:t>
            </a:r>
            <a:endParaRPr lang="en-US" sz="1300" dirty="0"/>
          </a:p>
        </p:txBody>
      </p:sp>
      <p:sp>
        <p:nvSpPr>
          <p:cNvPr id="18" name="Text 16"/>
          <p:cNvSpPr/>
          <p:nvPr/>
        </p:nvSpPr>
        <p:spPr>
          <a:xfrm>
            <a:off x="1097280" y="4709160"/>
            <a:ext cx="4754880" cy="502920"/>
          </a:xfrm>
          <a:prstGeom prst="rect">
            <a:avLst/>
          </a:prstGeom>
          <a:noFill/>
          <a:ln/>
        </p:spPr>
        <p:txBody>
          <a:bodyPr wrap="square" lIns="0" tIns="0" rIns="0" bIns="0" rtlCol="0" anchor="ctr"/>
          <a:lstStyle/>
          <a:p>
            <a:pPr indent="0" marL="0">
              <a:buNone/>
            </a:pPr>
            <a:r>
              <a:rPr lang="en-US" sz="1200" i="1" dirty="0">
                <a:solidFill>
                  <a:srgbClr val="C0392B"/>
                </a:solidFill>
                <a:latin typeface="Calibri" pitchFamily="34" charset="0"/>
                <a:ea typeface="Calibri" pitchFamily="34" charset="-122"/>
                <a:cs typeface="Calibri" pitchFamily="34" charset="-120"/>
              </a:rPr>
              <a:t>Expuesta · root remoto con contraseña 'toor'</a:t>
            </a:r>
            <a:endParaRPr lang="en-US" sz="1200" dirty="0"/>
          </a:p>
        </p:txBody>
      </p:sp>
      <p:sp>
        <p:nvSpPr>
          <p:cNvPr id="19" name="Shape 17"/>
          <p:cNvSpPr/>
          <p:nvPr/>
        </p:nvSpPr>
        <p:spPr>
          <a:xfrm>
            <a:off x="6263640" y="3794760"/>
            <a:ext cx="5212080" cy="1554480"/>
          </a:xfrm>
          <a:prstGeom prst="roundRect">
            <a:avLst>
              <a:gd name="adj" fmla="val 4706"/>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20" name="Shape 18"/>
          <p:cNvSpPr/>
          <p:nvPr/>
        </p:nvSpPr>
        <p:spPr>
          <a:xfrm>
            <a:off x="6263640" y="3794760"/>
            <a:ext cx="109728" cy="1554480"/>
          </a:xfrm>
          <a:prstGeom prst="rect">
            <a:avLst/>
          </a:prstGeom>
          <a:solidFill>
            <a:srgbClr val="C0392B"/>
          </a:solidFill>
          <a:ln/>
        </p:spPr>
      </p:sp>
      <p:sp>
        <p:nvSpPr>
          <p:cNvPr id="21" name="Text 19"/>
          <p:cNvSpPr/>
          <p:nvPr/>
        </p:nvSpPr>
        <p:spPr>
          <a:xfrm>
            <a:off x="6537960" y="3959352"/>
            <a:ext cx="4754880" cy="36576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apex-srv (LAN)</a:t>
            </a:r>
            <a:endParaRPr lang="en-US" sz="1600" dirty="0"/>
          </a:p>
        </p:txBody>
      </p:sp>
      <p:sp>
        <p:nvSpPr>
          <p:cNvPr id="22" name="Text 20"/>
          <p:cNvSpPr/>
          <p:nvPr/>
        </p:nvSpPr>
        <p:spPr>
          <a:xfrm>
            <a:off x="6537960" y="4361688"/>
            <a:ext cx="4754880" cy="320040"/>
          </a:xfrm>
          <a:prstGeom prst="rect">
            <a:avLst/>
          </a:prstGeom>
          <a:noFill/>
          <a:ln/>
        </p:spPr>
        <p:txBody>
          <a:bodyPr wrap="square" lIns="0" tIns="0" rIns="0" bIns="0" rtlCol="0" anchor="ctr"/>
          <a:lstStyle/>
          <a:p>
            <a:pPr indent="0" marL="0">
              <a:buNone/>
            </a:pPr>
            <a:r>
              <a:rPr lang="en-US" sz="1300" dirty="0">
                <a:solidFill>
                  <a:srgbClr val="16407A"/>
                </a:solidFill>
                <a:latin typeface="Calibri" pitchFamily="34" charset="0"/>
                <a:ea typeface="Calibri" pitchFamily="34" charset="-122"/>
                <a:cs typeface="Calibri" pitchFamily="34" charset="-120"/>
              </a:rPr>
              <a:t>Servidor FTP (vsftpd)</a:t>
            </a:r>
            <a:endParaRPr lang="en-US" sz="1300" dirty="0"/>
          </a:p>
        </p:txBody>
      </p:sp>
      <p:sp>
        <p:nvSpPr>
          <p:cNvPr id="23" name="Text 21"/>
          <p:cNvSpPr/>
          <p:nvPr/>
        </p:nvSpPr>
        <p:spPr>
          <a:xfrm>
            <a:off x="6537960" y="4709160"/>
            <a:ext cx="4754880" cy="502920"/>
          </a:xfrm>
          <a:prstGeom prst="rect">
            <a:avLst/>
          </a:prstGeom>
          <a:noFill/>
          <a:ln/>
        </p:spPr>
        <p:txBody>
          <a:bodyPr wrap="square" lIns="0" tIns="0" rIns="0" bIns="0" rtlCol="0" anchor="ctr"/>
          <a:lstStyle/>
          <a:p>
            <a:pPr indent="0" marL="0">
              <a:buNone/>
            </a:pPr>
            <a:r>
              <a:rPr lang="en-US" sz="1200" i="1" dirty="0">
                <a:solidFill>
                  <a:srgbClr val="C0392B"/>
                </a:solidFill>
                <a:latin typeface="Calibri" pitchFamily="34" charset="0"/>
                <a:ea typeface="Calibri" pitchFamily="34" charset="-122"/>
                <a:cs typeface="Calibri" pitchFamily="34" charset="-120"/>
              </a:rPr>
              <a:t>Acceso anónimo · credenciales SSH débiles</a:t>
            </a:r>
            <a:endParaRPr lang="en-US" sz="1200" dirty="0"/>
          </a:p>
        </p:txBody>
      </p:sp>
      <p:sp>
        <p:nvSpPr>
          <p:cNvPr id="24" name="Text 22"/>
          <p:cNvSpPr/>
          <p:nvPr/>
        </p:nvSpPr>
        <p:spPr>
          <a:xfrm>
            <a:off x="822960" y="5806440"/>
            <a:ext cx="105156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Los fallos los puse a propósito: son los típicos que te acabas encontrando en una pyme de verdad.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indent="0" marL="0">
              <a:buNone/>
            </a:pPr>
            <a:r>
              <a:rPr lang="en-US" sz="3000" b="1" dirty="0">
                <a:solidFill>
                  <a:srgbClr val="1F2A44"/>
                </a:solidFill>
                <a:latin typeface="Trebuchet MS" pitchFamily="34" charset="0"/>
                <a:ea typeface="Trebuchet MS" pitchFamily="34" charset="-122"/>
                <a:cs typeface="Trebuchet MS" pitchFamily="34" charset="-120"/>
              </a:rPr>
              <a:t>Monitorización: IDS / IPS / SIEM</a:t>
            </a:r>
            <a:endParaRPr lang="en-US" sz="3000" dirty="0"/>
          </a:p>
        </p:txBody>
      </p:sp>
      <p:sp>
        <p:nvSpPr>
          <p:cNvPr id="3" name="Text 1"/>
          <p:cNvSpPr/>
          <p:nvPr/>
        </p:nvSpPr>
        <p:spPr>
          <a:xfrm>
            <a:off x="822960" y="1325880"/>
            <a:ext cx="10515600" cy="640080"/>
          </a:xfrm>
          <a:prstGeom prst="rect">
            <a:avLst/>
          </a:prstGeom>
          <a:noFill/>
          <a:ln/>
        </p:spPr>
        <p:txBody>
          <a:bodyPr wrap="square" rtlCol="0" anchor="ctr"/>
          <a:lstStyle/>
          <a:p>
            <a:pPr indent="0" marL="0">
              <a:buNone/>
            </a:pPr>
            <a:r>
              <a:rPr lang="en-US" sz="1500" dirty="0">
                <a:solidFill>
                  <a:srgbClr val="1F2A44"/>
                </a:solidFill>
                <a:latin typeface="Calibri" pitchFamily="34" charset="0"/>
                <a:ea typeface="Calibri" pitchFamily="34" charset="-122"/>
                <a:cs typeface="Calibri" pitchFamily="34" charset="-120"/>
              </a:rPr>
              <a:t>Para vigilar las dos infraestructuras usé Wazuh como SIEM en el SOC y Suricata como IDS de red en los dos cortafuegos. La gracia es que todo se ve desde un único panel.</a:t>
            </a:r>
            <a:endParaRPr lang="en-US" sz="1500" dirty="0"/>
          </a:p>
        </p:txBody>
      </p:sp>
      <p:sp>
        <p:nvSpPr>
          <p:cNvPr id="4" name="Shape 2"/>
          <p:cNvSpPr/>
          <p:nvPr/>
        </p:nvSpPr>
        <p:spPr>
          <a:xfrm>
            <a:off x="822960" y="2194560"/>
            <a:ext cx="2542032" cy="1645920"/>
          </a:xfrm>
          <a:prstGeom prst="roundRect">
            <a:avLst>
              <a:gd name="adj" fmla="val 4444"/>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5" name="Text 3"/>
          <p:cNvSpPr/>
          <p:nvPr/>
        </p:nvSpPr>
        <p:spPr>
          <a:xfrm>
            <a:off x="822960" y="2377440"/>
            <a:ext cx="2542032" cy="731520"/>
          </a:xfrm>
          <a:prstGeom prst="rect">
            <a:avLst/>
          </a:prstGeom>
          <a:noFill/>
          <a:ln/>
        </p:spPr>
        <p:txBody>
          <a:bodyPr wrap="square" lIns="0" tIns="0" rIns="0" bIns="0" rtlCol="0" anchor="ctr"/>
          <a:lstStyle/>
          <a:p>
            <a:pPr algn="ctr" indent="0" marL="0">
              <a:buNone/>
            </a:pPr>
            <a:r>
              <a:rPr lang="en-US" sz="4000" b="1" dirty="0">
                <a:solidFill>
                  <a:srgbClr val="19C37D"/>
                </a:solidFill>
                <a:latin typeface="Trebuchet MS" pitchFamily="34" charset="0"/>
                <a:ea typeface="Trebuchet MS" pitchFamily="34" charset="-122"/>
                <a:cs typeface="Trebuchet MS" pitchFamily="34" charset="-120"/>
              </a:rPr>
              <a:t>7</a:t>
            </a:r>
            <a:endParaRPr lang="en-US" sz="4000" dirty="0"/>
          </a:p>
        </p:txBody>
      </p:sp>
      <p:sp>
        <p:nvSpPr>
          <p:cNvPr id="6" name="Text 4"/>
          <p:cNvSpPr/>
          <p:nvPr/>
        </p:nvSpPr>
        <p:spPr>
          <a:xfrm>
            <a:off x="822960" y="3154680"/>
            <a:ext cx="2542032" cy="54864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agentes</a:t>
            </a:r>
            <a:endParaRPr lang="en-US" sz="1250" dirty="0"/>
          </a:p>
          <a:p>
            <a:pPr algn="ctr" indent="0" marL="0">
              <a:buNone/>
            </a:pPr>
            <a:r>
              <a:rPr lang="en-US" sz="1250" dirty="0">
                <a:solidFill>
                  <a:srgbClr val="6B7280"/>
                </a:solidFill>
                <a:latin typeface="Calibri" pitchFamily="34" charset="0"/>
                <a:ea typeface="Calibri" pitchFamily="34" charset="-122"/>
                <a:cs typeface="Calibri" pitchFamily="34" charset="-120"/>
              </a:rPr>
              <a:t>Wazuh</a:t>
            </a:r>
            <a:endParaRPr lang="en-US" sz="1250" dirty="0"/>
          </a:p>
        </p:txBody>
      </p:sp>
      <p:sp>
        <p:nvSpPr>
          <p:cNvPr id="7" name="Shape 5"/>
          <p:cNvSpPr/>
          <p:nvPr/>
        </p:nvSpPr>
        <p:spPr>
          <a:xfrm>
            <a:off x="3520440" y="2194560"/>
            <a:ext cx="2542032" cy="1645920"/>
          </a:xfrm>
          <a:prstGeom prst="roundRect">
            <a:avLst>
              <a:gd name="adj" fmla="val 4444"/>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8" name="Text 6"/>
          <p:cNvSpPr/>
          <p:nvPr/>
        </p:nvSpPr>
        <p:spPr>
          <a:xfrm>
            <a:off x="3520440" y="2377440"/>
            <a:ext cx="2542032" cy="731520"/>
          </a:xfrm>
          <a:prstGeom prst="rect">
            <a:avLst/>
          </a:prstGeom>
          <a:noFill/>
          <a:ln/>
        </p:spPr>
        <p:txBody>
          <a:bodyPr wrap="square" lIns="0" tIns="0" rIns="0" bIns="0" rtlCol="0" anchor="ctr"/>
          <a:lstStyle/>
          <a:p>
            <a:pPr algn="ctr" indent="0" marL="0">
              <a:buNone/>
            </a:pPr>
            <a:r>
              <a:rPr lang="en-US" sz="4000" b="1" dirty="0">
                <a:solidFill>
                  <a:srgbClr val="19C37D"/>
                </a:solidFill>
                <a:latin typeface="Trebuchet MS" pitchFamily="34" charset="0"/>
                <a:ea typeface="Trebuchet MS" pitchFamily="34" charset="-122"/>
                <a:cs typeface="Trebuchet MS" pitchFamily="34" charset="-120"/>
              </a:rPr>
              <a:t>2</a:t>
            </a:r>
            <a:endParaRPr lang="en-US" sz="4000" dirty="0"/>
          </a:p>
        </p:txBody>
      </p:sp>
      <p:sp>
        <p:nvSpPr>
          <p:cNvPr id="9" name="Text 7"/>
          <p:cNvSpPr/>
          <p:nvPr/>
        </p:nvSpPr>
        <p:spPr>
          <a:xfrm>
            <a:off x="3520440" y="3154680"/>
            <a:ext cx="2542032" cy="54864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infraestructuras</a:t>
            </a:r>
            <a:endParaRPr lang="en-US" sz="1250" dirty="0"/>
          </a:p>
          <a:p>
            <a:pPr algn="ctr" indent="0" marL="0">
              <a:buNone/>
            </a:pPr>
            <a:r>
              <a:rPr lang="en-US" sz="1250" dirty="0">
                <a:solidFill>
                  <a:srgbClr val="6B7280"/>
                </a:solidFill>
                <a:latin typeface="Calibri" pitchFamily="34" charset="0"/>
                <a:ea typeface="Calibri" pitchFamily="34" charset="-122"/>
                <a:cs typeface="Calibri" pitchFamily="34" charset="-120"/>
              </a:rPr>
              <a:t>monitorizadas</a:t>
            </a:r>
            <a:endParaRPr lang="en-US" sz="1250" dirty="0"/>
          </a:p>
        </p:txBody>
      </p:sp>
      <p:sp>
        <p:nvSpPr>
          <p:cNvPr id="10" name="Shape 8"/>
          <p:cNvSpPr/>
          <p:nvPr/>
        </p:nvSpPr>
        <p:spPr>
          <a:xfrm>
            <a:off x="6217920" y="2194560"/>
            <a:ext cx="2542032" cy="1645920"/>
          </a:xfrm>
          <a:prstGeom prst="roundRect">
            <a:avLst>
              <a:gd name="adj" fmla="val 4444"/>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1" name="Text 9"/>
          <p:cNvSpPr/>
          <p:nvPr/>
        </p:nvSpPr>
        <p:spPr>
          <a:xfrm>
            <a:off x="6217920" y="2377440"/>
            <a:ext cx="2542032" cy="731520"/>
          </a:xfrm>
          <a:prstGeom prst="rect">
            <a:avLst/>
          </a:prstGeom>
          <a:noFill/>
          <a:ln/>
        </p:spPr>
        <p:txBody>
          <a:bodyPr wrap="square" lIns="0" tIns="0" rIns="0" bIns="0" rtlCol="0" anchor="ctr"/>
          <a:lstStyle/>
          <a:p>
            <a:pPr algn="ctr" indent="0" marL="0">
              <a:buNone/>
            </a:pPr>
            <a:r>
              <a:rPr lang="en-US" sz="4000" b="1" dirty="0">
                <a:solidFill>
                  <a:srgbClr val="19C37D"/>
                </a:solidFill>
                <a:latin typeface="Trebuchet MS" pitchFamily="34" charset="0"/>
                <a:ea typeface="Trebuchet MS" pitchFamily="34" charset="-122"/>
                <a:cs typeface="Trebuchet MS" pitchFamily="34" charset="-120"/>
              </a:rPr>
              <a:t>66k</a:t>
            </a:r>
            <a:endParaRPr lang="en-US" sz="4000" dirty="0"/>
          </a:p>
        </p:txBody>
      </p:sp>
      <p:sp>
        <p:nvSpPr>
          <p:cNvPr id="12" name="Text 10"/>
          <p:cNvSpPr/>
          <p:nvPr/>
        </p:nvSpPr>
        <p:spPr>
          <a:xfrm>
            <a:off x="6217920" y="3154680"/>
            <a:ext cx="2542032" cy="54864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reglas IDS</a:t>
            </a:r>
            <a:endParaRPr lang="en-US" sz="1250" dirty="0"/>
          </a:p>
          <a:p>
            <a:pPr algn="ctr" indent="0" marL="0">
              <a:buNone/>
            </a:pPr>
            <a:r>
              <a:rPr lang="en-US" sz="1250" dirty="0">
                <a:solidFill>
                  <a:srgbClr val="6B7280"/>
                </a:solidFill>
                <a:latin typeface="Calibri" pitchFamily="34" charset="0"/>
                <a:ea typeface="Calibri" pitchFamily="34" charset="-122"/>
                <a:cs typeface="Calibri" pitchFamily="34" charset="-120"/>
              </a:rPr>
              <a:t>(ET Open)</a:t>
            </a:r>
            <a:endParaRPr lang="en-US" sz="1250" dirty="0"/>
          </a:p>
        </p:txBody>
      </p:sp>
      <p:sp>
        <p:nvSpPr>
          <p:cNvPr id="13" name="Shape 11"/>
          <p:cNvSpPr/>
          <p:nvPr/>
        </p:nvSpPr>
        <p:spPr>
          <a:xfrm>
            <a:off x="8915400" y="2194560"/>
            <a:ext cx="2542032" cy="1645920"/>
          </a:xfrm>
          <a:prstGeom prst="roundRect">
            <a:avLst>
              <a:gd name="adj" fmla="val 4444"/>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4" name="Text 12"/>
          <p:cNvSpPr/>
          <p:nvPr/>
        </p:nvSpPr>
        <p:spPr>
          <a:xfrm>
            <a:off x="8915400" y="2377440"/>
            <a:ext cx="2542032" cy="731520"/>
          </a:xfrm>
          <a:prstGeom prst="rect">
            <a:avLst/>
          </a:prstGeom>
          <a:noFill/>
          <a:ln/>
        </p:spPr>
        <p:txBody>
          <a:bodyPr wrap="square" lIns="0" tIns="0" rIns="0" bIns="0" rtlCol="0" anchor="ctr"/>
          <a:lstStyle/>
          <a:p>
            <a:pPr algn="ctr" indent="0" marL="0">
              <a:buNone/>
            </a:pPr>
            <a:r>
              <a:rPr lang="en-US" sz="4000" b="1" dirty="0">
                <a:solidFill>
                  <a:srgbClr val="19C37D"/>
                </a:solidFill>
                <a:latin typeface="Trebuchet MS" pitchFamily="34" charset="0"/>
                <a:ea typeface="Trebuchet MS" pitchFamily="34" charset="-122"/>
                <a:cs typeface="Trebuchet MS" pitchFamily="34" charset="-120"/>
              </a:rPr>
              <a:t>100%</a:t>
            </a:r>
            <a:endParaRPr lang="en-US" sz="4000" dirty="0"/>
          </a:p>
        </p:txBody>
      </p:sp>
      <p:sp>
        <p:nvSpPr>
          <p:cNvPr id="15" name="Text 13"/>
          <p:cNvSpPr/>
          <p:nvPr/>
        </p:nvSpPr>
        <p:spPr>
          <a:xfrm>
            <a:off x="8915400" y="3154680"/>
            <a:ext cx="2542032" cy="54864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del ataque</a:t>
            </a:r>
            <a:endParaRPr lang="en-US" sz="1250" dirty="0"/>
          </a:p>
          <a:p>
            <a:pPr algn="ctr" indent="0" marL="0">
              <a:buNone/>
            </a:pPr>
            <a:r>
              <a:rPr lang="en-US" sz="1250" dirty="0">
                <a:solidFill>
                  <a:srgbClr val="6B7280"/>
                </a:solidFill>
                <a:latin typeface="Calibri" pitchFamily="34" charset="0"/>
                <a:ea typeface="Calibri" pitchFamily="34" charset="-122"/>
                <a:cs typeface="Calibri" pitchFamily="34" charset="-120"/>
              </a:rPr>
              <a:t>detectado</a:t>
            </a:r>
            <a:endParaRPr lang="en-US" sz="1250" dirty="0"/>
          </a:p>
        </p:txBody>
      </p:sp>
      <p:sp>
        <p:nvSpPr>
          <p:cNvPr id="16" name="Text 14"/>
          <p:cNvSpPr/>
          <p:nvPr/>
        </p:nvSpPr>
        <p:spPr>
          <a:xfrm>
            <a:off x="868680" y="4114800"/>
            <a:ext cx="10515600" cy="1645920"/>
          </a:xfrm>
          <a:prstGeom prst="rect">
            <a:avLst/>
          </a:prstGeom>
          <a:noFill/>
          <a:ln/>
        </p:spPr>
        <p:txBody>
          <a:bodyPr wrap="square" rtlCol="0" anchor="ctr"/>
          <a:lstStyle/>
          <a:p>
            <a:pPr indent="0" marL="0">
              <a:spcAft>
                <a:spcPts val="800"/>
              </a:spcAft>
              <a:buNone/>
            </a:pPr>
            <a:r>
              <a:rPr lang="en-US" sz="1400" b="1" dirty="0">
                <a:solidFill>
                  <a:srgbClr val="1F2A44"/>
                </a:solidFill>
                <a:latin typeface="Calibri" pitchFamily="34" charset="0"/>
                <a:ea typeface="Calibri" pitchFamily="34" charset="-122"/>
                <a:cs typeface="Calibri" pitchFamily="34" charset="-120"/>
              </a:rPr>
              <a:t>HIDS / logs: </a:t>
            </a:r>
            <a:pPr indent="0" marL="0">
              <a:spcAft>
                <a:spcPts val="800"/>
              </a:spcAft>
              <a:buNone/>
            </a:pPr>
            <a:r>
              <a:rPr lang="en-US" sz="1400" dirty="0">
                <a:solidFill>
                  <a:srgbClr val="1F2A44"/>
                </a:solidFill>
                <a:latin typeface="Calibri" pitchFamily="34" charset="0"/>
                <a:ea typeface="Calibri" pitchFamily="34" charset="-122"/>
                <a:cs typeface="Calibri" pitchFamily="34" charset="-120"/>
              </a:rPr>
              <a:t>agentes en las 7 VMs de ambas infraestructuras (integridad, logs, detección).</a:t>
            </a:r>
            <a:pPr indent="0" marL="0">
              <a:spcAft>
                <a:spcPts val="800"/>
              </a:spcAft>
              <a:buNone/>
            </a:pPr>
            <a:r>
              <a:rPr lang="en-US" sz="1400" b="1" dirty="0">
                <a:solidFill>
                  <a:srgbClr val="1F2A44"/>
                </a:solidFill>
                <a:latin typeface="Calibri" pitchFamily="34" charset="0"/>
                <a:ea typeface="Calibri" pitchFamily="34" charset="-122"/>
                <a:cs typeface="Calibri" pitchFamily="34" charset="-120"/>
              </a:rPr>
              <a:t>NIDS: </a:t>
            </a:r>
            <a:pPr indent="0" marL="0">
              <a:spcAft>
                <a:spcPts val="800"/>
              </a:spcAft>
              <a:buNone/>
            </a:pPr>
            <a:r>
              <a:rPr lang="en-US" sz="1400" dirty="0">
                <a:solidFill>
                  <a:srgbClr val="1F2A44"/>
                </a:solidFill>
                <a:latin typeface="Calibri" pitchFamily="34" charset="0"/>
                <a:ea typeface="Calibri" pitchFamily="34" charset="-122"/>
                <a:cs typeface="Calibri" pitchFamily="34" charset="-120"/>
              </a:rPr>
              <a:t>Suricata en los firewalls; sus alertas se integran y correlacionan en Wazuh.</a:t>
            </a:r>
            <a:pPr indent="0" marL="0">
              <a:spcAft>
                <a:spcPts val="800"/>
              </a:spcAft>
              <a:buNone/>
            </a:pPr>
            <a:r>
              <a:rPr lang="en-US" sz="1400" b="1" dirty="0">
                <a:solidFill>
                  <a:srgbClr val="1F2A44"/>
                </a:solidFill>
                <a:latin typeface="Calibri" pitchFamily="34" charset="0"/>
                <a:ea typeface="Calibri" pitchFamily="34" charset="-122"/>
                <a:cs typeface="Calibri" pitchFamily="34" charset="-120"/>
              </a:rPr>
              <a:t>Aislamiento: </a:t>
            </a:r>
            <a:pPr indent="0" marL="0">
              <a:spcAft>
                <a:spcPts val="800"/>
              </a:spcAft>
              <a:buNone/>
            </a:pPr>
            <a:r>
              <a:rPr lang="en-US" sz="1400" dirty="0">
                <a:solidFill>
                  <a:srgbClr val="1F2A44"/>
                </a:solidFill>
                <a:latin typeface="Calibri" pitchFamily="34" charset="0"/>
                <a:ea typeface="Calibri" pitchFamily="34" charset="-122"/>
                <a:cs typeface="Calibri" pitchFamily="34" charset="-120"/>
              </a:rPr>
              <a:t>los agentes reportan por una red dedicada, sin romper la segmentación.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822960" y="2286000"/>
            <a:ext cx="164592" cy="1828800"/>
          </a:xfrm>
          <a:prstGeom prst="rect">
            <a:avLst/>
          </a:prstGeom>
          <a:solidFill>
            <a:srgbClr val="19C37D"/>
          </a:solidFill>
          <a:ln/>
        </p:spPr>
      </p:sp>
      <p:sp>
        <p:nvSpPr>
          <p:cNvPr id="3" name="Text 1"/>
          <p:cNvSpPr/>
          <p:nvPr/>
        </p:nvSpPr>
        <p:spPr>
          <a:xfrm>
            <a:off x="1188720" y="2011680"/>
            <a:ext cx="2743200" cy="1097280"/>
          </a:xfrm>
          <a:prstGeom prst="rect">
            <a:avLst/>
          </a:prstGeom>
          <a:noFill/>
          <a:ln/>
        </p:spPr>
        <p:txBody>
          <a:bodyPr wrap="square" rtlCol="0" anchor="ctr"/>
          <a:lstStyle/>
          <a:p>
            <a:pPr indent="0" marL="0">
              <a:buNone/>
            </a:pPr>
            <a:r>
              <a:rPr lang="en-US" sz="6400" b="1" dirty="0">
                <a:solidFill>
                  <a:srgbClr val="23344A"/>
                </a:solidFill>
                <a:latin typeface="Trebuchet MS" pitchFamily="34" charset="0"/>
                <a:ea typeface="Trebuchet MS" pitchFamily="34" charset="-122"/>
                <a:cs typeface="Trebuchet MS" pitchFamily="34" charset="-120"/>
              </a:rPr>
              <a:t>04</a:t>
            </a:r>
            <a:endParaRPr lang="en-US" sz="6400" dirty="0"/>
          </a:p>
        </p:txBody>
      </p:sp>
      <p:sp>
        <p:nvSpPr>
          <p:cNvPr id="4" name="Text 2"/>
          <p:cNvSpPr/>
          <p:nvPr/>
        </p:nvSpPr>
        <p:spPr>
          <a:xfrm>
            <a:off x="1188720" y="3108960"/>
            <a:ext cx="10058400" cy="100584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Desarrollo y tecnologías</a:t>
            </a:r>
            <a:endParaRPr lang="en-US" sz="3400" dirty="0"/>
          </a:p>
        </p:txBody>
      </p:sp>
      <p:sp>
        <p:nvSpPr>
          <p:cNvPr id="5" name="Text 3"/>
          <p:cNvSpPr/>
          <p:nvPr/>
        </p:nvSpPr>
        <p:spPr>
          <a:xfrm>
            <a:off x="1207008" y="4114800"/>
            <a:ext cx="10058400" cy="548640"/>
          </a:xfrm>
          <a:prstGeom prst="rect">
            <a:avLst/>
          </a:prstGeom>
          <a:noFill/>
          <a:ln/>
        </p:spPr>
        <p:txBody>
          <a:bodyPr wrap="square" rtlCol="0" anchor="ctr"/>
          <a:lstStyle/>
          <a:p>
            <a:pPr indent="0" marL="0">
              <a:buNone/>
            </a:pPr>
            <a:r>
              <a:rPr lang="en-US" sz="1700" dirty="0">
                <a:solidFill>
                  <a:srgbClr val="AEB9C7"/>
                </a:solidFill>
                <a:latin typeface="Calibri" pitchFamily="34" charset="0"/>
                <a:ea typeface="Calibri" pitchFamily="34" charset="-122"/>
                <a:cs typeface="Calibri" pitchFamily="34" charset="-120"/>
              </a:rPr>
              <a:t>Cómo se construyó y por qué</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indent="0" marL="0">
              <a:buNone/>
            </a:pPr>
            <a:r>
              <a:rPr lang="en-US" sz="3000" b="1" dirty="0">
                <a:solidFill>
                  <a:srgbClr val="1F2A44"/>
                </a:solidFill>
                <a:latin typeface="Trebuchet MS" pitchFamily="34" charset="0"/>
                <a:ea typeface="Trebuchet MS" pitchFamily="34" charset="-122"/>
                <a:cs typeface="Trebuchet MS" pitchFamily="34" charset="-120"/>
              </a:rPr>
              <a:t>Desarrollo del proyecto</a:t>
            </a:r>
            <a:endParaRPr lang="en-US" sz="3000" dirty="0"/>
          </a:p>
        </p:txBody>
      </p:sp>
      <p:sp>
        <p:nvSpPr>
          <p:cNvPr id="3" name="Shape 1"/>
          <p:cNvSpPr/>
          <p:nvPr/>
        </p:nvSpPr>
        <p:spPr>
          <a:xfrm>
            <a:off x="822960" y="1417320"/>
            <a:ext cx="640080" cy="640080"/>
          </a:xfrm>
          <a:prstGeom prst="ellipse">
            <a:avLst/>
          </a:prstGeom>
          <a:solidFill>
            <a:srgbClr val="16407A"/>
          </a:solidFill>
          <a:ln/>
        </p:spPr>
      </p:sp>
      <p:sp>
        <p:nvSpPr>
          <p:cNvPr id="4" name="Text 2"/>
          <p:cNvSpPr/>
          <p:nvPr/>
        </p:nvSpPr>
        <p:spPr>
          <a:xfrm>
            <a:off x="822960" y="14173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1</a:t>
            </a:r>
            <a:endParaRPr lang="en-US" sz="2000" dirty="0"/>
          </a:p>
        </p:txBody>
      </p:sp>
      <p:sp>
        <p:nvSpPr>
          <p:cNvPr id="5" name="Text 3"/>
          <p:cNvSpPr/>
          <p:nvPr/>
        </p:nvSpPr>
        <p:spPr>
          <a:xfrm>
            <a:off x="1645920" y="1435608"/>
            <a:ext cx="3840480" cy="36576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Adopción del clúster</a:t>
            </a:r>
            <a:endParaRPr lang="en-US" sz="1600" dirty="0"/>
          </a:p>
        </p:txBody>
      </p:sp>
      <p:sp>
        <p:nvSpPr>
          <p:cNvPr id="6" name="Text 4"/>
          <p:cNvSpPr/>
          <p:nvPr/>
        </p:nvSpPr>
        <p:spPr>
          <a:xfrm>
            <a:off x="1645920" y="1783080"/>
            <a:ext cx="9601200" cy="36576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Inventario y renombrado a JAMSEC sin reiniciar nodos</a:t>
            </a:r>
            <a:endParaRPr lang="en-US" sz="1300" dirty="0"/>
          </a:p>
        </p:txBody>
      </p:sp>
      <p:sp>
        <p:nvSpPr>
          <p:cNvPr id="7" name="Shape 5"/>
          <p:cNvSpPr/>
          <p:nvPr/>
        </p:nvSpPr>
        <p:spPr>
          <a:xfrm>
            <a:off x="822960" y="2350008"/>
            <a:ext cx="640080" cy="640080"/>
          </a:xfrm>
          <a:prstGeom prst="ellipse">
            <a:avLst/>
          </a:prstGeom>
          <a:solidFill>
            <a:srgbClr val="16407A"/>
          </a:solidFill>
          <a:ln/>
        </p:spPr>
      </p:sp>
      <p:sp>
        <p:nvSpPr>
          <p:cNvPr id="8" name="Text 6"/>
          <p:cNvSpPr/>
          <p:nvPr/>
        </p:nvSpPr>
        <p:spPr>
          <a:xfrm>
            <a:off x="822960" y="2350008"/>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2</a:t>
            </a:r>
            <a:endParaRPr lang="en-US" sz="2000" dirty="0"/>
          </a:p>
        </p:txBody>
      </p:sp>
      <p:sp>
        <p:nvSpPr>
          <p:cNvPr id="9" name="Text 7"/>
          <p:cNvSpPr/>
          <p:nvPr/>
        </p:nvSpPr>
        <p:spPr>
          <a:xfrm>
            <a:off x="1645920" y="2368296"/>
            <a:ext cx="3840480" cy="36576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Infraestructuras</a:t>
            </a:r>
            <a:endParaRPr lang="en-US" sz="1600" dirty="0"/>
          </a:p>
        </p:txBody>
      </p:sp>
      <p:sp>
        <p:nvSpPr>
          <p:cNvPr id="10" name="Text 8"/>
          <p:cNvSpPr/>
          <p:nvPr/>
        </p:nvSpPr>
        <p:spPr>
          <a:xfrm>
            <a:off x="1645920" y="2715768"/>
            <a:ext cx="9601200" cy="36576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Redes, firewalls y servicios con cloud-init (IaC)</a:t>
            </a:r>
            <a:endParaRPr lang="en-US" sz="1300" dirty="0"/>
          </a:p>
        </p:txBody>
      </p:sp>
      <p:sp>
        <p:nvSpPr>
          <p:cNvPr id="11" name="Shape 9"/>
          <p:cNvSpPr/>
          <p:nvPr/>
        </p:nvSpPr>
        <p:spPr>
          <a:xfrm>
            <a:off x="822960" y="3282696"/>
            <a:ext cx="640080" cy="640080"/>
          </a:xfrm>
          <a:prstGeom prst="ellipse">
            <a:avLst/>
          </a:prstGeom>
          <a:solidFill>
            <a:srgbClr val="16407A"/>
          </a:solidFill>
          <a:ln/>
        </p:spPr>
      </p:sp>
      <p:sp>
        <p:nvSpPr>
          <p:cNvPr id="12" name="Text 10"/>
          <p:cNvSpPr/>
          <p:nvPr/>
        </p:nvSpPr>
        <p:spPr>
          <a:xfrm>
            <a:off x="822960" y="3282696"/>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3</a:t>
            </a:r>
            <a:endParaRPr lang="en-US" sz="2000" dirty="0"/>
          </a:p>
        </p:txBody>
      </p:sp>
      <p:sp>
        <p:nvSpPr>
          <p:cNvPr id="13" name="Text 11"/>
          <p:cNvSpPr/>
          <p:nvPr/>
        </p:nvSpPr>
        <p:spPr>
          <a:xfrm>
            <a:off x="1645920" y="3300984"/>
            <a:ext cx="3840480" cy="36576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Monitorización</a:t>
            </a:r>
            <a:endParaRPr lang="en-US" sz="1600" dirty="0"/>
          </a:p>
        </p:txBody>
      </p:sp>
      <p:sp>
        <p:nvSpPr>
          <p:cNvPr id="14" name="Text 12"/>
          <p:cNvSpPr/>
          <p:nvPr/>
        </p:nvSpPr>
        <p:spPr>
          <a:xfrm>
            <a:off x="1645920" y="3648456"/>
            <a:ext cx="9601200" cy="36576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Despliegue de Wazuh + Suricata sobre ambas</a:t>
            </a:r>
            <a:endParaRPr lang="en-US" sz="1300" dirty="0"/>
          </a:p>
        </p:txBody>
      </p:sp>
      <p:sp>
        <p:nvSpPr>
          <p:cNvPr id="15" name="Shape 13"/>
          <p:cNvSpPr/>
          <p:nvPr/>
        </p:nvSpPr>
        <p:spPr>
          <a:xfrm>
            <a:off x="822960" y="4215384"/>
            <a:ext cx="640080" cy="640080"/>
          </a:xfrm>
          <a:prstGeom prst="ellipse">
            <a:avLst/>
          </a:prstGeom>
          <a:solidFill>
            <a:srgbClr val="16407A"/>
          </a:solidFill>
          <a:ln/>
        </p:spPr>
      </p:sp>
      <p:sp>
        <p:nvSpPr>
          <p:cNvPr id="16" name="Text 14"/>
          <p:cNvSpPr/>
          <p:nvPr/>
        </p:nvSpPr>
        <p:spPr>
          <a:xfrm>
            <a:off x="822960" y="4215384"/>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4</a:t>
            </a:r>
            <a:endParaRPr lang="en-US" sz="2000" dirty="0"/>
          </a:p>
        </p:txBody>
      </p:sp>
      <p:sp>
        <p:nvSpPr>
          <p:cNvPr id="17" name="Text 15"/>
          <p:cNvSpPr/>
          <p:nvPr/>
        </p:nvSpPr>
        <p:spPr>
          <a:xfrm>
            <a:off x="1645920" y="4233672"/>
            <a:ext cx="3840480" cy="36576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Auditoría</a:t>
            </a:r>
            <a:endParaRPr lang="en-US" sz="1600" dirty="0"/>
          </a:p>
        </p:txBody>
      </p:sp>
      <p:sp>
        <p:nvSpPr>
          <p:cNvPr id="18" name="Text 16"/>
          <p:cNvSpPr/>
          <p:nvPr/>
        </p:nvSpPr>
        <p:spPr>
          <a:xfrm>
            <a:off x="1645920" y="4581144"/>
            <a:ext cx="9601200" cy="36576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Pentest PTES/OWASP desde la estación red team</a:t>
            </a:r>
            <a:endParaRPr lang="en-US" sz="1300" dirty="0"/>
          </a:p>
        </p:txBody>
      </p:sp>
      <p:sp>
        <p:nvSpPr>
          <p:cNvPr id="19" name="Shape 17"/>
          <p:cNvSpPr/>
          <p:nvPr/>
        </p:nvSpPr>
        <p:spPr>
          <a:xfrm>
            <a:off x="822960" y="5148072"/>
            <a:ext cx="640080" cy="640080"/>
          </a:xfrm>
          <a:prstGeom prst="ellipse">
            <a:avLst/>
          </a:prstGeom>
          <a:solidFill>
            <a:srgbClr val="16407A"/>
          </a:solidFill>
          <a:ln/>
        </p:spPr>
      </p:sp>
      <p:sp>
        <p:nvSpPr>
          <p:cNvPr id="20" name="Text 18"/>
          <p:cNvSpPr/>
          <p:nvPr/>
        </p:nvSpPr>
        <p:spPr>
          <a:xfrm>
            <a:off x="822960" y="514807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5</a:t>
            </a:r>
            <a:endParaRPr lang="en-US" sz="2000" dirty="0"/>
          </a:p>
        </p:txBody>
      </p:sp>
      <p:sp>
        <p:nvSpPr>
          <p:cNvPr id="21" name="Text 19"/>
          <p:cNvSpPr/>
          <p:nvPr/>
        </p:nvSpPr>
        <p:spPr>
          <a:xfrm>
            <a:off x="1645920" y="5166360"/>
            <a:ext cx="3840480" cy="36576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Documentación</a:t>
            </a:r>
            <a:endParaRPr lang="en-US" sz="1600" dirty="0"/>
          </a:p>
        </p:txBody>
      </p:sp>
      <p:sp>
        <p:nvSpPr>
          <p:cNvPr id="22" name="Text 20"/>
          <p:cNvSpPr/>
          <p:nvPr/>
        </p:nvSpPr>
        <p:spPr>
          <a:xfrm>
            <a:off x="1645920" y="5513832"/>
            <a:ext cx="9601200" cy="36576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Informes, memoria, repositorio y demo</a:t>
            </a:r>
            <a:endParaRPr lang="en-US" sz="1300" dirty="0"/>
          </a:p>
        </p:txBody>
      </p:sp>
      <p:sp>
        <p:nvSpPr>
          <p:cNvPr id="23" name="Text 21"/>
          <p:cNvSpPr/>
          <p:nvPr/>
        </p:nvSpPr>
        <p:spPr>
          <a:xfrm>
            <a:off x="822960" y="6172200"/>
            <a:ext cx="10515600" cy="365760"/>
          </a:xfrm>
          <a:prstGeom prst="rect">
            <a:avLst/>
          </a:prstGeom>
          <a:noFill/>
          <a:ln/>
        </p:spPr>
        <p:txBody>
          <a:bodyPr wrap="square" lIns="0" tIns="0" rIns="0" bIns="0" rtlCol="0" anchor="ctr"/>
          <a:lstStyle/>
          <a:p>
            <a:pPr indent="0" marL="0">
              <a:buNone/>
            </a:pPr>
            <a:r>
              <a:rPr lang="en-US" sz="1250" i="1" dirty="0">
                <a:solidFill>
                  <a:srgbClr val="19C37D"/>
                </a:solidFill>
                <a:latin typeface="Calibri" pitchFamily="34" charset="0"/>
                <a:ea typeface="Calibri" pitchFamily="34" charset="-122"/>
                <a:cs typeface="Calibri" pitchFamily="34" charset="-120"/>
              </a:rPr>
              <a:t>Casi todo quedó como código (cloud-init + scripts) guardado en Git, así que se puede volver a montar entero.</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indent="0" marL="0">
              <a:buNone/>
            </a:pPr>
            <a:r>
              <a:rPr lang="en-US" sz="3000" b="1" dirty="0">
                <a:solidFill>
                  <a:srgbClr val="1F2A44"/>
                </a:solidFill>
                <a:latin typeface="Trebuchet MS" pitchFamily="34" charset="0"/>
                <a:ea typeface="Trebuchet MS" pitchFamily="34" charset="-122"/>
                <a:cs typeface="Trebuchet MS" pitchFamily="34" charset="-120"/>
              </a:rPr>
              <a:t>Justificación de las tecnologías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515600" cy="914400"/>
        </p:xfrm>
        <a:graphic>
          <a:graphicData uri="http://schemas.openxmlformats.org/drawingml/2006/table">
            <a:tbl>
              <a:tblPr/>
              <a:tblGrid>
                <a:gridCol w="3017520"/>
                <a:gridCol w="7498080"/>
              </a:tblGrid>
              <a:tr h="566928">
                <a:tc>
                  <a:txBody>
                    <a:bodyPr/>
                    <a:lstStyle/>
                    <a:p>
                      <a:pPr algn="l" indent="0" marL="0">
                        <a:buNone/>
                      </a:pPr>
                      <a:r>
                        <a:rPr lang="en-US" sz="1350" b="1" dirty="0">
                          <a:solidFill>
                            <a:srgbClr val="FFFFFF"/>
                          </a:solidFill>
                          <a:latin typeface="Trebuchet MS" pitchFamily="34" charset="0"/>
                          <a:ea typeface="Trebuchet MS" pitchFamily="34" charset="-122"/>
                          <a:cs typeface="Trebuchet MS" pitchFamily="34" charset="-120"/>
                        </a:rPr>
                        <a:t>Tecnología</a:t>
                      </a:r>
                      <a:endParaRPr lang="en-US" sz="1350" dirty="0">
                        <a:latin typeface="Trebuchet MS" charset="0"/>
                        <a:ea typeface="Trebuchet MS" charset="0"/>
                        <a:cs typeface="Trebuchet MS"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6407A"/>
                    </a:solidFill>
                  </a:tcPr>
                </a:tc>
                <a:tc>
                  <a:txBody>
                    <a:bodyPr/>
                    <a:lstStyle/>
                    <a:p>
                      <a:pPr algn="l" indent="0" marL="0">
                        <a:buNone/>
                      </a:pPr>
                      <a:r>
                        <a:rPr lang="en-US" sz="1350" b="1" dirty="0">
                          <a:solidFill>
                            <a:srgbClr val="FFFFFF"/>
                          </a:solidFill>
                          <a:latin typeface="Trebuchet MS" pitchFamily="34" charset="0"/>
                          <a:ea typeface="Trebuchet MS" pitchFamily="34" charset="-122"/>
                          <a:cs typeface="Trebuchet MS" pitchFamily="34" charset="-120"/>
                        </a:rPr>
                        <a:t>Por qué se eligió</a:t>
                      </a:r>
                      <a:endParaRPr lang="en-US" sz="1350" dirty="0">
                        <a:latin typeface="Trebuchet MS" charset="0"/>
                        <a:ea typeface="Trebuchet MS" charset="0"/>
                        <a:cs typeface="Trebuchet MS"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6407A"/>
                    </a:solidFill>
                  </a:tcPr>
                </a:tc>
              </a:tr>
              <a:tr h="566928">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Proxmox VE</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Virtualización empresarial real (clúster), gratuito y muy extendido.</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Debian 13 + cloud-init</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Base estable; despliegue automatizado y reproducible (IaC).</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nftables</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Cortafuegos nativo de Linux, flexible y sin coste; demuestra control de bajo nivel.</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Wazuh</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SIEM open source completo (HIDS, logs, alertas, panel).</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Suricata</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IDS/IPS de red estándar, con reglas de la comunidad (ET Open).</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nmap · sqlmap · hydra</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A44"/>
                          </a:solidFill>
                          <a:latin typeface="Calibri" pitchFamily="34" charset="0"/>
                          <a:ea typeface="Calibri" pitchFamily="34" charset="-122"/>
                          <a:cs typeface="Calibri" pitchFamily="34" charset="-120"/>
                        </a:rPr>
                        <a:t>Herramientas estándar de auditoría para cada ámbito (red, web, credenciales).</a:t>
                      </a:r>
                      <a:endParaRPr lang="en-US" sz="1350" dirty="0">
                        <a:latin typeface="Calibri" charset="0"/>
                        <a:ea typeface="Calibri" charset="0"/>
                        <a:cs typeface="Calibri" charset="0"/>
                      </a:endParaRPr>
                    </a:p>
                  </a:txBody>
                  <a:tcPr marL="101600" marR="101600" marT="50800" marB="50800" anchor="ctr">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indent="0" marL="0">
              <a:buNone/>
            </a:pPr>
            <a:r>
              <a:rPr lang="en-US" sz="3000" b="1" dirty="0">
                <a:solidFill>
                  <a:srgbClr val="1F2A44"/>
                </a:solidFill>
                <a:latin typeface="Trebuchet MS" pitchFamily="34" charset="0"/>
                <a:ea typeface="Trebuchet MS" pitchFamily="34" charset="-122"/>
                <a:cs typeface="Trebuchet MS" pitchFamily="34" charset="-120"/>
              </a:rPr>
              <a:t>Resultado de la auditoría</a:t>
            </a:r>
            <a:endParaRPr lang="en-US" sz="3000" dirty="0"/>
          </a:p>
        </p:txBody>
      </p:sp>
      <p:sp>
        <p:nvSpPr>
          <p:cNvPr id="3" name="Shape 1"/>
          <p:cNvSpPr/>
          <p:nvPr/>
        </p:nvSpPr>
        <p:spPr>
          <a:xfrm>
            <a:off x="822960" y="1463040"/>
            <a:ext cx="2194560" cy="1371600"/>
          </a:xfrm>
          <a:prstGeom prst="roundRect">
            <a:avLst>
              <a:gd name="adj" fmla="val 5333"/>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4" name="Text 2"/>
          <p:cNvSpPr/>
          <p:nvPr/>
        </p:nvSpPr>
        <p:spPr>
          <a:xfrm>
            <a:off x="822960" y="1572768"/>
            <a:ext cx="2194560" cy="685800"/>
          </a:xfrm>
          <a:prstGeom prst="rect">
            <a:avLst/>
          </a:prstGeom>
          <a:noFill/>
          <a:ln/>
        </p:spPr>
        <p:txBody>
          <a:bodyPr wrap="square" lIns="0" tIns="0" rIns="0" bIns="0" rtlCol="0" anchor="ctr"/>
          <a:lstStyle/>
          <a:p>
            <a:pPr algn="ctr" indent="0" marL="0">
              <a:buNone/>
            </a:pPr>
            <a:r>
              <a:rPr lang="en-US" sz="3800" b="1" dirty="0">
                <a:solidFill>
                  <a:srgbClr val="C0392B"/>
                </a:solidFill>
                <a:latin typeface="Trebuchet MS" pitchFamily="34" charset="0"/>
                <a:ea typeface="Trebuchet MS" pitchFamily="34" charset="-122"/>
                <a:cs typeface="Trebuchet MS" pitchFamily="34" charset="-120"/>
              </a:rPr>
              <a:t>3</a:t>
            </a:r>
            <a:endParaRPr lang="en-US" sz="3800" dirty="0"/>
          </a:p>
        </p:txBody>
      </p:sp>
      <p:sp>
        <p:nvSpPr>
          <p:cNvPr id="5" name="Text 3"/>
          <p:cNvSpPr/>
          <p:nvPr/>
        </p:nvSpPr>
        <p:spPr>
          <a:xfrm>
            <a:off x="822960" y="2286000"/>
            <a:ext cx="2194560" cy="365760"/>
          </a:xfrm>
          <a:prstGeom prst="rect">
            <a:avLst/>
          </a:prstGeom>
          <a:noFill/>
          <a:ln/>
        </p:spPr>
        <p:txBody>
          <a:bodyPr wrap="square" lIns="0" tIns="0" rIns="0" bIns="0" rtlCol="0" anchor="ctr"/>
          <a:lstStyle/>
          <a:p>
            <a:pPr algn="ctr" indent="0" marL="0">
              <a:buNone/>
            </a:pPr>
            <a:r>
              <a:rPr lang="en-US" sz="1400" dirty="0">
                <a:solidFill>
                  <a:srgbClr val="6B7280"/>
                </a:solidFill>
                <a:latin typeface="Calibri" pitchFamily="34" charset="0"/>
                <a:ea typeface="Calibri" pitchFamily="34" charset="-122"/>
                <a:cs typeface="Calibri" pitchFamily="34" charset="-120"/>
              </a:rPr>
              <a:t>Críticos</a:t>
            </a:r>
            <a:endParaRPr lang="en-US" sz="1400" dirty="0"/>
          </a:p>
        </p:txBody>
      </p:sp>
      <p:sp>
        <p:nvSpPr>
          <p:cNvPr id="6" name="Shape 4"/>
          <p:cNvSpPr/>
          <p:nvPr/>
        </p:nvSpPr>
        <p:spPr>
          <a:xfrm>
            <a:off x="3200400" y="1463040"/>
            <a:ext cx="2194560" cy="1371600"/>
          </a:xfrm>
          <a:prstGeom prst="roundRect">
            <a:avLst>
              <a:gd name="adj" fmla="val 5333"/>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7" name="Text 5"/>
          <p:cNvSpPr/>
          <p:nvPr/>
        </p:nvSpPr>
        <p:spPr>
          <a:xfrm>
            <a:off x="3200400" y="1572768"/>
            <a:ext cx="2194560" cy="685800"/>
          </a:xfrm>
          <a:prstGeom prst="rect">
            <a:avLst/>
          </a:prstGeom>
          <a:noFill/>
          <a:ln/>
        </p:spPr>
        <p:txBody>
          <a:bodyPr wrap="square" lIns="0" tIns="0" rIns="0" bIns="0" rtlCol="0" anchor="ctr"/>
          <a:lstStyle/>
          <a:p>
            <a:pPr algn="ctr" indent="0" marL="0">
              <a:buNone/>
            </a:pPr>
            <a:r>
              <a:rPr lang="en-US" sz="3800" b="1" dirty="0">
                <a:solidFill>
                  <a:srgbClr val="E67E22"/>
                </a:solidFill>
                <a:latin typeface="Trebuchet MS" pitchFamily="34" charset="0"/>
                <a:ea typeface="Trebuchet MS" pitchFamily="34" charset="-122"/>
                <a:cs typeface="Trebuchet MS" pitchFamily="34" charset="-120"/>
              </a:rPr>
              <a:t>4</a:t>
            </a:r>
            <a:endParaRPr lang="en-US" sz="3800" dirty="0"/>
          </a:p>
        </p:txBody>
      </p:sp>
      <p:sp>
        <p:nvSpPr>
          <p:cNvPr id="8" name="Text 6"/>
          <p:cNvSpPr/>
          <p:nvPr/>
        </p:nvSpPr>
        <p:spPr>
          <a:xfrm>
            <a:off x="3200400" y="2286000"/>
            <a:ext cx="2194560" cy="365760"/>
          </a:xfrm>
          <a:prstGeom prst="rect">
            <a:avLst/>
          </a:prstGeom>
          <a:noFill/>
          <a:ln/>
        </p:spPr>
        <p:txBody>
          <a:bodyPr wrap="square" lIns="0" tIns="0" rIns="0" bIns="0" rtlCol="0" anchor="ctr"/>
          <a:lstStyle/>
          <a:p>
            <a:pPr algn="ctr" indent="0" marL="0">
              <a:buNone/>
            </a:pPr>
            <a:r>
              <a:rPr lang="en-US" sz="1400" dirty="0">
                <a:solidFill>
                  <a:srgbClr val="6B7280"/>
                </a:solidFill>
                <a:latin typeface="Calibri" pitchFamily="34" charset="0"/>
                <a:ea typeface="Calibri" pitchFamily="34" charset="-122"/>
                <a:cs typeface="Calibri" pitchFamily="34" charset="-120"/>
              </a:rPr>
              <a:t>Altos</a:t>
            </a:r>
            <a:endParaRPr lang="en-US" sz="1400" dirty="0"/>
          </a:p>
        </p:txBody>
      </p:sp>
      <p:sp>
        <p:nvSpPr>
          <p:cNvPr id="9" name="Shape 7"/>
          <p:cNvSpPr/>
          <p:nvPr/>
        </p:nvSpPr>
        <p:spPr>
          <a:xfrm>
            <a:off x="5577840" y="1463040"/>
            <a:ext cx="2194560" cy="1371600"/>
          </a:xfrm>
          <a:prstGeom prst="roundRect">
            <a:avLst>
              <a:gd name="adj" fmla="val 5333"/>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0" name="Text 8"/>
          <p:cNvSpPr/>
          <p:nvPr/>
        </p:nvSpPr>
        <p:spPr>
          <a:xfrm>
            <a:off x="5577840" y="1572768"/>
            <a:ext cx="2194560" cy="685800"/>
          </a:xfrm>
          <a:prstGeom prst="rect">
            <a:avLst/>
          </a:prstGeom>
          <a:noFill/>
          <a:ln/>
        </p:spPr>
        <p:txBody>
          <a:bodyPr wrap="square" lIns="0" tIns="0" rIns="0" bIns="0" rtlCol="0" anchor="ctr"/>
          <a:lstStyle/>
          <a:p>
            <a:pPr algn="ctr" indent="0" marL="0">
              <a:buNone/>
            </a:pPr>
            <a:r>
              <a:rPr lang="en-US" sz="3800" b="1" dirty="0">
                <a:solidFill>
                  <a:srgbClr val="E0B000"/>
                </a:solidFill>
                <a:latin typeface="Trebuchet MS" pitchFamily="34" charset="0"/>
                <a:ea typeface="Trebuchet MS" pitchFamily="34" charset="-122"/>
                <a:cs typeface="Trebuchet MS" pitchFamily="34" charset="-120"/>
              </a:rPr>
              <a:t>2</a:t>
            </a:r>
            <a:endParaRPr lang="en-US" sz="3800" dirty="0"/>
          </a:p>
        </p:txBody>
      </p:sp>
      <p:sp>
        <p:nvSpPr>
          <p:cNvPr id="11" name="Text 9"/>
          <p:cNvSpPr/>
          <p:nvPr/>
        </p:nvSpPr>
        <p:spPr>
          <a:xfrm>
            <a:off x="5577840" y="2286000"/>
            <a:ext cx="2194560" cy="365760"/>
          </a:xfrm>
          <a:prstGeom prst="rect">
            <a:avLst/>
          </a:prstGeom>
          <a:noFill/>
          <a:ln/>
        </p:spPr>
        <p:txBody>
          <a:bodyPr wrap="square" lIns="0" tIns="0" rIns="0" bIns="0" rtlCol="0" anchor="ctr"/>
          <a:lstStyle/>
          <a:p>
            <a:pPr algn="ctr" indent="0" marL="0">
              <a:buNone/>
            </a:pPr>
            <a:r>
              <a:rPr lang="en-US" sz="1400" dirty="0">
                <a:solidFill>
                  <a:srgbClr val="6B7280"/>
                </a:solidFill>
                <a:latin typeface="Calibri" pitchFamily="34" charset="0"/>
                <a:ea typeface="Calibri" pitchFamily="34" charset="-122"/>
                <a:cs typeface="Calibri" pitchFamily="34" charset="-120"/>
              </a:rPr>
              <a:t>Medios</a:t>
            </a:r>
            <a:endParaRPr lang="en-US" sz="1400" dirty="0"/>
          </a:p>
        </p:txBody>
      </p:sp>
      <p:sp>
        <p:nvSpPr>
          <p:cNvPr id="12" name="Text 10"/>
          <p:cNvSpPr/>
          <p:nvPr/>
        </p:nvSpPr>
        <p:spPr>
          <a:xfrm>
            <a:off x="8229600" y="1463040"/>
            <a:ext cx="3657600" cy="365760"/>
          </a:xfrm>
          <a:prstGeom prst="rect">
            <a:avLst/>
          </a:prstGeom>
          <a:noFill/>
          <a:ln/>
        </p:spPr>
        <p:txBody>
          <a:bodyPr wrap="square" rtlCol="0" anchor="ctr"/>
          <a:lstStyle/>
          <a:p>
            <a:pPr indent="0" marL="0">
              <a:buNone/>
            </a:pPr>
            <a:r>
              <a:rPr lang="en-US" sz="1600" b="1" dirty="0">
                <a:solidFill>
                  <a:srgbClr val="19C37D"/>
                </a:solidFill>
                <a:latin typeface="Trebuchet MS" pitchFamily="34" charset="0"/>
                <a:ea typeface="Trebuchet MS" pitchFamily="34" charset="-122"/>
                <a:cs typeface="Trebuchet MS" pitchFamily="34" charset="-120"/>
              </a:rPr>
              <a:t>Cadena de ataque</a:t>
            </a:r>
            <a:endParaRPr lang="en-US" sz="1600" dirty="0"/>
          </a:p>
        </p:txBody>
      </p:sp>
      <p:sp>
        <p:nvSpPr>
          <p:cNvPr id="13" name="Text 11"/>
          <p:cNvSpPr/>
          <p:nvPr/>
        </p:nvSpPr>
        <p:spPr>
          <a:xfrm>
            <a:off x="8275320" y="1874520"/>
            <a:ext cx="3566160" cy="1463040"/>
          </a:xfrm>
          <a:prstGeom prst="rect">
            <a:avLst/>
          </a:prstGeom>
          <a:noFill/>
          <a:ln/>
        </p:spPr>
        <p:txBody>
          <a:bodyPr wrap="square" rtlCol="0" anchor="ctr"/>
          <a:lstStyle/>
          <a:p>
            <a:pPr marL="342900" indent="-342900">
              <a:spcAft>
                <a:spcPts val="500"/>
              </a:spcAft>
              <a:buSzPct val="100000"/>
              <a:buChar char="•"/>
            </a:pPr>
            <a:r>
              <a:rPr lang="en-US" sz="1200" dirty="0">
                <a:solidFill>
                  <a:srgbClr val="1F2A44"/>
                </a:solidFill>
                <a:latin typeface="Calibri" pitchFamily="34" charset="0"/>
                <a:ea typeface="Calibri" pitchFamily="34" charset="-122"/>
                <a:cs typeface="Calibri" pitchFamily="34" charset="-120"/>
              </a:rPr>
              <a:t>FTP anónimo → credenciales internas</a:t>
            </a:r>
            <a:endParaRPr lang="en-US" sz="1200" dirty="0"/>
          </a:p>
          <a:p>
            <a:pPr marL="342900" indent="-342900">
              <a:spcAft>
                <a:spcPts val="500"/>
              </a:spcAft>
              <a:buSzPct val="100000"/>
              <a:buChar char="•"/>
            </a:pPr>
            <a:r>
              <a:rPr lang="en-US" sz="1200" dirty="0">
                <a:solidFill>
                  <a:srgbClr val="1F2A44"/>
                </a:solidFill>
                <a:latin typeface="Calibri" pitchFamily="34" charset="0"/>
                <a:ea typeface="Calibri" pitchFamily="34" charset="-122"/>
                <a:cs typeface="Calibri" pitchFamily="34" charset="-120"/>
              </a:rPr>
              <a:t>SQLi en la web → volcado de la BBDD</a:t>
            </a:r>
            <a:endParaRPr lang="en-US" sz="1200" dirty="0"/>
          </a:p>
          <a:p>
            <a:pPr marL="342900" indent="-342900">
              <a:spcAft>
                <a:spcPts val="500"/>
              </a:spcAft>
              <a:buSzPct val="100000"/>
              <a:buChar char="•"/>
            </a:pPr>
            <a:r>
              <a:rPr lang="en-US" sz="1200" dirty="0">
                <a:solidFill>
                  <a:srgbClr val="1F2A44"/>
                </a:solidFill>
                <a:latin typeface="Calibri" pitchFamily="34" charset="0"/>
                <a:ea typeface="Calibri" pitchFamily="34" charset="-122"/>
                <a:cs typeface="Calibri" pitchFamily="34" charset="-120"/>
              </a:rPr>
              <a:t>Fuerza bruta SSH → acceso a la DMZ</a:t>
            </a:r>
            <a:endParaRPr lang="en-US" sz="1200" dirty="0"/>
          </a:p>
          <a:p>
            <a:pPr marL="342900" indent="-342900">
              <a:spcAft>
                <a:spcPts val="500"/>
              </a:spcAft>
              <a:buSzPct val="100000"/>
              <a:buChar char="•"/>
            </a:pPr>
            <a:r>
              <a:rPr lang="en-US" sz="1200" dirty="0">
                <a:solidFill>
                  <a:srgbClr val="1F2A44"/>
                </a:solidFill>
                <a:latin typeface="Calibri" pitchFamily="34" charset="0"/>
                <a:ea typeface="Calibri" pitchFamily="34" charset="-122"/>
                <a:cs typeface="Calibri" pitchFamily="34" charset="-120"/>
              </a:rPr>
              <a:t>Pivote DMZ→LAN → datos internos</a:t>
            </a:r>
            <a:endParaRPr lang="en-US" sz="1200" dirty="0"/>
          </a:p>
        </p:txBody>
      </p:sp>
      <p:sp>
        <p:nvSpPr>
          <p:cNvPr id="14" name="Text 12"/>
          <p:cNvSpPr/>
          <p:nvPr/>
        </p:nvSpPr>
        <p:spPr>
          <a:xfrm>
            <a:off x="822960" y="3200400"/>
            <a:ext cx="6400800" cy="365760"/>
          </a:xfrm>
          <a:prstGeom prst="rect">
            <a:avLst/>
          </a:prstGeom>
          <a:noFill/>
          <a:ln/>
        </p:spPr>
        <p:txBody>
          <a:bodyPr wrap="square"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Impacto demostrado</a:t>
            </a:r>
            <a:endParaRPr lang="en-US" sz="1600" dirty="0"/>
          </a:p>
        </p:txBody>
      </p:sp>
      <p:sp>
        <p:nvSpPr>
          <p:cNvPr id="15" name="Text 13"/>
          <p:cNvSpPr/>
          <p:nvPr/>
        </p:nvSpPr>
        <p:spPr>
          <a:xfrm>
            <a:off x="822960" y="3611880"/>
            <a:ext cx="10515600" cy="1097280"/>
          </a:xfrm>
          <a:prstGeom prst="rect">
            <a:avLst/>
          </a:prstGeom>
          <a:noFill/>
          <a:ln/>
        </p:spPr>
        <p:txBody>
          <a:bodyPr wrap="square" rtlCol="0" anchor="ctr"/>
          <a:lstStyle/>
          <a:p>
            <a:pPr indent="0" marL="0">
              <a:buNone/>
            </a:pPr>
            <a:r>
              <a:rPr lang="en-US" sz="1400" dirty="0">
                <a:solidFill>
                  <a:srgbClr val="1F2A44"/>
                </a:solidFill>
                <a:latin typeface="Calibri" pitchFamily="34" charset="0"/>
                <a:ea typeface="Calibri" pitchFamily="34" charset="-122"/>
                <a:cs typeface="Calibri" pitchFamily="34" charset="-120"/>
              </a:rPr>
              <a:t>Resumiendo: entré desde internet, sin nada, y acabé sacando datos personales y financieros (NIF, IBAN, nóminas) de la red interna. Y mientras tanto el SIEM iba detectando el escaneo, la fuerza bruta y los accesos.</a:t>
            </a:r>
            <a:endParaRPr lang="en-US" sz="1400" dirty="0"/>
          </a:p>
        </p:txBody>
      </p:sp>
      <p:sp>
        <p:nvSpPr>
          <p:cNvPr id="16" name="Text 14"/>
          <p:cNvSpPr/>
          <p:nvPr/>
        </p:nvSpPr>
        <p:spPr>
          <a:xfrm>
            <a:off x="822960" y="4754880"/>
            <a:ext cx="10515600" cy="45720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Entregables: informe técnico (CVSS 3.1, OWASP) e informe ejecutivo para dirección.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822960" y="2286000"/>
            <a:ext cx="164592" cy="1828800"/>
          </a:xfrm>
          <a:prstGeom prst="rect">
            <a:avLst/>
          </a:prstGeom>
          <a:solidFill>
            <a:srgbClr val="19C37D"/>
          </a:solidFill>
          <a:ln/>
        </p:spPr>
      </p:sp>
      <p:sp>
        <p:nvSpPr>
          <p:cNvPr id="3" name="Text 1"/>
          <p:cNvSpPr/>
          <p:nvPr/>
        </p:nvSpPr>
        <p:spPr>
          <a:xfrm>
            <a:off x="1188720" y="2011680"/>
            <a:ext cx="2743200" cy="1097280"/>
          </a:xfrm>
          <a:prstGeom prst="rect">
            <a:avLst/>
          </a:prstGeom>
          <a:noFill/>
          <a:ln/>
        </p:spPr>
        <p:txBody>
          <a:bodyPr wrap="square" rtlCol="0" anchor="ctr"/>
          <a:lstStyle/>
          <a:p>
            <a:pPr indent="0" marL="0">
              <a:buNone/>
            </a:pPr>
            <a:r>
              <a:rPr lang="en-US" sz="6400" b="1" dirty="0">
                <a:solidFill>
                  <a:srgbClr val="23344A"/>
                </a:solidFill>
                <a:latin typeface="Trebuchet MS" pitchFamily="34" charset="0"/>
                <a:ea typeface="Trebuchet MS" pitchFamily="34" charset="-122"/>
                <a:cs typeface="Trebuchet MS" pitchFamily="34" charset="-120"/>
              </a:rPr>
              <a:t>05</a:t>
            </a:r>
            <a:endParaRPr lang="en-US" sz="6400" dirty="0"/>
          </a:p>
        </p:txBody>
      </p:sp>
      <p:sp>
        <p:nvSpPr>
          <p:cNvPr id="4" name="Text 2"/>
          <p:cNvSpPr/>
          <p:nvPr/>
        </p:nvSpPr>
        <p:spPr>
          <a:xfrm>
            <a:off x="1188720" y="3108960"/>
            <a:ext cx="10058400" cy="100584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Conclusiones</a:t>
            </a:r>
            <a:endParaRPr lang="en-US" sz="3400" dirty="0"/>
          </a:p>
        </p:txBody>
      </p:sp>
      <p:sp>
        <p:nvSpPr>
          <p:cNvPr id="5" name="Text 3"/>
          <p:cNvSpPr/>
          <p:nvPr/>
        </p:nvSpPr>
        <p:spPr>
          <a:xfrm>
            <a:off x="1207008" y="4114800"/>
            <a:ext cx="10058400" cy="548640"/>
          </a:xfrm>
          <a:prstGeom prst="rect">
            <a:avLst/>
          </a:prstGeom>
          <a:noFill/>
          <a:ln/>
        </p:spPr>
        <p:txBody>
          <a:bodyPr wrap="square" rtlCol="0" anchor="ctr"/>
          <a:lstStyle/>
          <a:p>
            <a:pPr indent="0" marL="0">
              <a:buNone/>
            </a:pPr>
            <a:r>
              <a:rPr lang="en-US" sz="1700" dirty="0">
                <a:solidFill>
                  <a:srgbClr val="AEB9C7"/>
                </a:solidFill>
                <a:latin typeface="Calibri" pitchFamily="34" charset="0"/>
                <a:ea typeface="Calibri" pitchFamily="34" charset="-122"/>
                <a:cs typeface="Calibri" pitchFamily="34" charset="-120"/>
              </a:rPr>
              <a:t>Dificultades, mejoras y costes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indent="0" marL="0">
              <a:buNone/>
            </a:pPr>
            <a:r>
              <a:rPr lang="en-US" sz="3000" b="1" dirty="0">
                <a:solidFill>
                  <a:srgbClr val="1F2A44"/>
                </a:solidFill>
                <a:latin typeface="Trebuchet MS" pitchFamily="34" charset="0"/>
                <a:ea typeface="Trebuchet MS" pitchFamily="34" charset="-122"/>
                <a:cs typeface="Trebuchet MS" pitchFamily="34" charset="-120"/>
              </a:rPr>
              <a:t>Conclusiones</a:t>
            </a:r>
            <a:endParaRPr lang="en-US" sz="3000" dirty="0"/>
          </a:p>
        </p:txBody>
      </p:sp>
      <p:sp>
        <p:nvSpPr>
          <p:cNvPr id="3" name="Shape 1"/>
          <p:cNvSpPr/>
          <p:nvPr/>
        </p:nvSpPr>
        <p:spPr>
          <a:xfrm>
            <a:off x="822960" y="1417320"/>
            <a:ext cx="3410712" cy="4754880"/>
          </a:xfrm>
          <a:prstGeom prst="roundRect">
            <a:avLst>
              <a:gd name="adj" fmla="val 2145"/>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4" name="Shape 2"/>
          <p:cNvSpPr/>
          <p:nvPr/>
        </p:nvSpPr>
        <p:spPr>
          <a:xfrm>
            <a:off x="822960" y="1417320"/>
            <a:ext cx="3410712" cy="109728"/>
          </a:xfrm>
          <a:prstGeom prst="rect">
            <a:avLst/>
          </a:prstGeom>
          <a:solidFill>
            <a:srgbClr val="C0392B"/>
          </a:solidFill>
          <a:ln/>
        </p:spPr>
      </p:sp>
      <p:sp>
        <p:nvSpPr>
          <p:cNvPr id="5" name="Text 3"/>
          <p:cNvSpPr/>
          <p:nvPr/>
        </p:nvSpPr>
        <p:spPr>
          <a:xfrm>
            <a:off x="1051560" y="1645920"/>
            <a:ext cx="3017520" cy="54864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Dificultades encontradas</a:t>
            </a:r>
            <a:endParaRPr lang="en-US" sz="1600" dirty="0"/>
          </a:p>
        </p:txBody>
      </p:sp>
      <p:sp>
        <p:nvSpPr>
          <p:cNvPr id="6" name="Text 4"/>
          <p:cNvSpPr/>
          <p:nvPr/>
        </p:nvSpPr>
        <p:spPr>
          <a:xfrm>
            <a:off x="1051560" y="2240280"/>
            <a:ext cx="3017520" cy="3749040"/>
          </a:xfrm>
          <a:prstGeom prst="rect">
            <a:avLst/>
          </a:prstGeom>
          <a:noFill/>
          <a:ln/>
        </p:spPr>
        <p:txBody>
          <a:bodyPr wrap="square" rtlCol="0" anchor="t"/>
          <a:lstStyle/>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Red de aula compartida: conflictos de IP (resueltos verificando con ping/ARP).</a:t>
            </a:r>
            <a:endParaRPr lang="en-US" sz="1250" dirty="0"/>
          </a:p>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Instalador de Wazuh incompatible con Debian 13 (parcheado).</a:t>
            </a:r>
            <a:endParaRPr lang="en-US" sz="1250" dirty="0"/>
          </a:p>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Versión de agentes Wazuh &gt; manager (fijada a la del manager).</a:t>
            </a:r>
            <a:endParaRPr lang="en-US" sz="1250" dirty="0"/>
          </a:p>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Falsos positivos de Suricata sobre virtio (ajuste de NIC y captura).</a:t>
            </a:r>
            <a:endParaRPr lang="en-US" sz="1250" dirty="0"/>
          </a:p>
        </p:txBody>
      </p:sp>
      <p:sp>
        <p:nvSpPr>
          <p:cNvPr id="7" name="Shape 5"/>
          <p:cNvSpPr/>
          <p:nvPr/>
        </p:nvSpPr>
        <p:spPr>
          <a:xfrm>
            <a:off x="4434840" y="1417320"/>
            <a:ext cx="3410712" cy="4754880"/>
          </a:xfrm>
          <a:prstGeom prst="roundRect">
            <a:avLst>
              <a:gd name="adj" fmla="val 2145"/>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8" name="Shape 6"/>
          <p:cNvSpPr/>
          <p:nvPr/>
        </p:nvSpPr>
        <p:spPr>
          <a:xfrm>
            <a:off x="4434840" y="1417320"/>
            <a:ext cx="3410712" cy="109728"/>
          </a:xfrm>
          <a:prstGeom prst="rect">
            <a:avLst/>
          </a:prstGeom>
          <a:solidFill>
            <a:srgbClr val="19C37D"/>
          </a:solidFill>
          <a:ln/>
        </p:spPr>
      </p:sp>
      <p:sp>
        <p:nvSpPr>
          <p:cNvPr id="9" name="Text 7"/>
          <p:cNvSpPr/>
          <p:nvPr/>
        </p:nvSpPr>
        <p:spPr>
          <a:xfrm>
            <a:off x="4663440" y="1645920"/>
            <a:ext cx="3017520" cy="54864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Posibles mejoras</a:t>
            </a:r>
            <a:endParaRPr lang="en-US" sz="1600" dirty="0"/>
          </a:p>
        </p:txBody>
      </p:sp>
      <p:sp>
        <p:nvSpPr>
          <p:cNvPr id="10" name="Text 8"/>
          <p:cNvSpPr/>
          <p:nvPr/>
        </p:nvSpPr>
        <p:spPr>
          <a:xfrm>
            <a:off x="4663440" y="2240280"/>
            <a:ext cx="3017520" cy="3749040"/>
          </a:xfrm>
          <a:prstGeom prst="rect">
            <a:avLst/>
          </a:prstGeom>
          <a:noFill/>
          <a:ln/>
        </p:spPr>
        <p:txBody>
          <a:bodyPr wrap="square" rtlCol="0" anchor="t"/>
          <a:lstStyle/>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Suricata en modo IPS (bloqueo en línea) en el perímetro.</a:t>
            </a:r>
            <a:endParaRPr lang="en-US" sz="1250" dirty="0"/>
          </a:p>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Alta disponibilidad y copias de seguridad automatizadas.</a:t>
            </a:r>
            <a:endParaRPr lang="en-US" sz="1250" dirty="0"/>
          </a:p>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Gestión de identidades centralizada (LDAP/AD) y MFA.</a:t>
            </a:r>
            <a:endParaRPr lang="en-US" sz="1250" dirty="0"/>
          </a:p>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Alertado proactivo y cuadros de mando a medida en Wazuh.</a:t>
            </a:r>
            <a:endParaRPr lang="en-US" sz="1250" dirty="0"/>
          </a:p>
        </p:txBody>
      </p:sp>
      <p:sp>
        <p:nvSpPr>
          <p:cNvPr id="11" name="Shape 9"/>
          <p:cNvSpPr/>
          <p:nvPr/>
        </p:nvSpPr>
        <p:spPr>
          <a:xfrm>
            <a:off x="8046720" y="1417320"/>
            <a:ext cx="3410712" cy="4754880"/>
          </a:xfrm>
          <a:prstGeom prst="roundRect">
            <a:avLst>
              <a:gd name="adj" fmla="val 2145"/>
            </a:avLst>
          </a:prstGeom>
          <a:solidFill>
            <a:srgbClr val="F2F5F9"/>
          </a:solidFill>
          <a:ln w="12700">
            <a:solidFill>
              <a:srgbClr val="DDE3EA"/>
            </a:solidFill>
            <a:prstDash val="solid"/>
          </a:ln>
          <a:effectLst>
            <a:outerShdw sx="100000" sy="100000" kx="0" ky="0" algn="bl" rotWithShape="0" blurRad="101600" dist="38100" dir="8100000">
              <a:srgbClr val="9AA5B1">
                <a:alpha val="25000"/>
              </a:srgbClr>
            </a:outerShdw>
          </a:effectLst>
        </p:spPr>
      </p:sp>
      <p:sp>
        <p:nvSpPr>
          <p:cNvPr id="12" name="Shape 10"/>
          <p:cNvSpPr/>
          <p:nvPr/>
        </p:nvSpPr>
        <p:spPr>
          <a:xfrm>
            <a:off x="8046720" y="1417320"/>
            <a:ext cx="3410712" cy="109728"/>
          </a:xfrm>
          <a:prstGeom prst="rect">
            <a:avLst/>
          </a:prstGeom>
          <a:solidFill>
            <a:srgbClr val="16407A"/>
          </a:solidFill>
          <a:ln/>
        </p:spPr>
      </p:sp>
      <p:sp>
        <p:nvSpPr>
          <p:cNvPr id="13" name="Text 11"/>
          <p:cNvSpPr/>
          <p:nvPr/>
        </p:nvSpPr>
        <p:spPr>
          <a:xfrm>
            <a:off x="8275320" y="1645920"/>
            <a:ext cx="3017520" cy="548640"/>
          </a:xfrm>
          <a:prstGeom prst="rect">
            <a:avLst/>
          </a:prstGeom>
          <a:noFill/>
          <a:ln/>
        </p:spPr>
        <p:txBody>
          <a:bodyPr wrap="square" lIns="0" tIns="0" rIns="0" bIns="0" rtlCol="0" anchor="ctr"/>
          <a:lstStyle/>
          <a:p>
            <a:pPr indent="0" marL="0">
              <a:buNone/>
            </a:pPr>
            <a:r>
              <a:rPr lang="en-US" sz="1600" b="1" dirty="0">
                <a:solidFill>
                  <a:srgbClr val="1F2A44"/>
                </a:solidFill>
                <a:latin typeface="Trebuchet MS" pitchFamily="34" charset="0"/>
                <a:ea typeface="Trebuchet MS" pitchFamily="34" charset="-122"/>
                <a:cs typeface="Trebuchet MS" pitchFamily="34" charset="-120"/>
              </a:rPr>
              <a:t>Costes</a:t>
            </a:r>
            <a:endParaRPr lang="en-US" sz="1600" dirty="0"/>
          </a:p>
        </p:txBody>
      </p:sp>
      <p:sp>
        <p:nvSpPr>
          <p:cNvPr id="14" name="Text 12"/>
          <p:cNvSpPr/>
          <p:nvPr/>
        </p:nvSpPr>
        <p:spPr>
          <a:xfrm>
            <a:off x="8275320" y="2240280"/>
            <a:ext cx="3017520" cy="3749040"/>
          </a:xfrm>
          <a:prstGeom prst="rect">
            <a:avLst/>
          </a:prstGeom>
          <a:noFill/>
          <a:ln/>
        </p:spPr>
        <p:txBody>
          <a:bodyPr wrap="square" rtlCol="0" anchor="t"/>
          <a:lstStyle/>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Hardware: clúster reutilizado → 0 € adicionales.</a:t>
            </a:r>
            <a:endParaRPr lang="en-US" sz="1250" dirty="0"/>
          </a:p>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Software: 100% libre (Proxmox, Debian, Wazuh, Suricata).</a:t>
            </a:r>
            <a:endParaRPr lang="en-US" sz="1250" dirty="0"/>
          </a:p>
          <a:p>
            <a:pPr marL="342900" indent="-342900">
              <a:spcAft>
                <a:spcPts val="800"/>
              </a:spcAft>
              <a:buSzPct val="100000"/>
              <a:buChar char="•"/>
            </a:pPr>
            <a:r>
              <a:rPr lang="en-US" sz="1250" dirty="0">
                <a:solidFill>
                  <a:srgbClr val="1F2A44"/>
                </a:solidFill>
                <a:latin typeface="Calibri" pitchFamily="34" charset="0"/>
                <a:ea typeface="Calibri" pitchFamily="34" charset="-122"/>
                <a:cs typeface="Calibri" pitchFamily="34" charset="-120"/>
              </a:rPr>
              <a:t>Coste principal: horas de ingeniería / despliegue.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9692640" y="4206240"/>
            <a:ext cx="3840480" cy="3840480"/>
          </a:xfrm>
          <a:prstGeom prst="ellipse">
            <a:avLst/>
          </a:prstGeom>
          <a:solidFill>
            <a:srgbClr val="19C37D">
              <a:alpha val="18000"/>
            </a:srgbClr>
          </a:solidFill>
          <a:ln/>
        </p:spPr>
      </p:sp>
      <p:sp>
        <p:nvSpPr>
          <p:cNvPr id="3" name="Text 1"/>
          <p:cNvSpPr/>
          <p:nvPr/>
        </p:nvSpPr>
        <p:spPr>
          <a:xfrm>
            <a:off x="822960" y="2194560"/>
            <a:ext cx="10058400" cy="1005840"/>
          </a:xfrm>
          <a:prstGeom prst="rect">
            <a:avLst/>
          </a:prstGeom>
          <a:noFill/>
          <a:ln/>
        </p:spPr>
        <p:txBody>
          <a:bodyPr wrap="square"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Gracias</a:t>
            </a:r>
            <a:endParaRPr lang="en-US" sz="4800" dirty="0"/>
          </a:p>
        </p:txBody>
      </p:sp>
      <p:sp>
        <p:nvSpPr>
          <p:cNvPr id="4" name="Text 2"/>
          <p:cNvSpPr/>
          <p:nvPr/>
        </p:nvSpPr>
        <p:spPr>
          <a:xfrm>
            <a:off x="868680" y="3291840"/>
            <a:ext cx="7315200" cy="548640"/>
          </a:xfrm>
          <a:prstGeom prst="rect">
            <a:avLst/>
          </a:prstGeom>
          <a:noFill/>
          <a:ln/>
        </p:spPr>
        <p:txBody>
          <a:bodyPr wrap="square" rtlCol="0" anchor="ctr"/>
          <a:lstStyle/>
          <a:p>
            <a:pPr indent="0" marL="0">
              <a:buNone/>
            </a:pPr>
            <a:r>
              <a:rPr lang="en-US" sz="2000" dirty="0">
                <a:solidFill>
                  <a:srgbClr val="19C37D"/>
                </a:solidFill>
                <a:latin typeface="Calibri" pitchFamily="34" charset="0"/>
                <a:ea typeface="Calibri" pitchFamily="34" charset="-122"/>
                <a:cs typeface="Calibri" pitchFamily="34" charset="-120"/>
              </a:rPr>
              <a:t>¿Preguntas?</a:t>
            </a:r>
            <a:endParaRPr lang="en-US" sz="2000" dirty="0"/>
          </a:p>
        </p:txBody>
      </p:sp>
      <p:sp>
        <p:nvSpPr>
          <p:cNvPr id="5" name="Text 3"/>
          <p:cNvSpPr/>
          <p:nvPr/>
        </p:nvSpPr>
        <p:spPr>
          <a:xfrm>
            <a:off x="868680" y="5120640"/>
            <a:ext cx="10424160" cy="457200"/>
          </a:xfrm>
          <a:prstGeom prst="rect">
            <a:avLst/>
          </a:prstGeom>
          <a:noFill/>
          <a:ln/>
        </p:spPr>
        <p:txBody>
          <a:bodyPr wrap="square" rtlCol="0" anchor="ctr"/>
          <a:lstStyle/>
          <a:p>
            <a:pPr indent="0" marL="0">
              <a:buNone/>
            </a:pPr>
            <a:r>
              <a:rPr lang="en-US" sz="1400" dirty="0">
                <a:solidFill>
                  <a:srgbClr val="AEB9C7"/>
                </a:solidFill>
                <a:latin typeface="Calibri" pitchFamily="34" charset="0"/>
                <a:ea typeface="Calibri" pitchFamily="34" charset="-122"/>
                <a:cs typeface="Calibri" pitchFamily="34" charset="-120"/>
              </a:rPr>
              <a:t>Repositorio del proyecto: github.com/aleexsanchezz04/jamsec-proyecto-ciberseguridad</a:t>
            </a:r>
            <a:endParaRPr lang="en-US" sz="1400" dirty="0"/>
          </a:p>
        </p:txBody>
      </p:sp>
      <p:sp>
        <p:nvSpPr>
          <p:cNvPr id="6" name="Text 4"/>
          <p:cNvSpPr/>
          <p:nvPr/>
        </p:nvSpPr>
        <p:spPr>
          <a:xfrm>
            <a:off x="868680" y="5669280"/>
            <a:ext cx="10058400" cy="365760"/>
          </a:xfrm>
          <a:prstGeom prst="rect">
            <a:avLst/>
          </a:prstGeom>
          <a:noFill/>
          <a:ln/>
        </p:spPr>
        <p:txBody>
          <a:bodyPr wrap="square" rtlCol="0" anchor="ctr"/>
          <a:lstStyle/>
          <a:p>
            <a:pPr indent="0" marL="0">
              <a:buNone/>
            </a:pPr>
            <a:r>
              <a:rPr lang="en-US" sz="1300" dirty="0">
                <a:solidFill>
                  <a:srgbClr val="8A97A8"/>
                </a:solidFill>
                <a:latin typeface="Calibri" pitchFamily="34" charset="0"/>
                <a:ea typeface="Calibri" pitchFamily="34" charset="-122"/>
                <a:cs typeface="Calibri" pitchFamily="34" charset="-120"/>
              </a:rPr>
              <a:t>Alex Sánchez García · JAMSEC ·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JAMSEC — Infraestructura, Monitorización y Auditoría</dc:title>
  <dc:subject>PptxGenJS Presentation</dc:subject>
  <dc:creator>Alex Sánchez García</dc:creator>
  <cp:lastModifiedBy>Alex Sánchez García</cp:lastModifiedBy>
  <cp:revision>1</cp:revision>
  <dcterms:created xsi:type="dcterms:W3CDTF">2026-06-01T19:21:55Z</dcterms:created>
  <dcterms:modified xsi:type="dcterms:W3CDTF">2026-06-01T19:21:55Z</dcterms:modified>
</cp:coreProperties>
</file>